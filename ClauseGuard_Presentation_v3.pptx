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62" r:id="rId15"/>
    <p:sldId id="263"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0741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0"/>
            <a:ext cx="109728" cy="514350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365760" y="1188720"/>
            <a:ext cx="5029200" cy="1005840"/>
          </a:xfrm>
          <a:prstGeom prst="rect">
            <a:avLst/>
          </a:prstGeom>
          <a:noFill/>
          <a:ln/>
        </p:spPr>
        <p:txBody>
          <a:bodyPr wrap="square" lIns="0" tIns="0" rIns="0" bIns="0" rtlCol="0" anchor="ctr"/>
          <a:lstStyle/>
          <a:p>
            <a:pPr marL="0" indent="0" algn="l">
              <a:buNone/>
            </a:pPr>
            <a:r>
              <a:rPr lang="en-US" sz="5200" b="1" dirty="0">
                <a:solidFill>
                  <a:srgbClr val="FFFFFF"/>
                </a:solidFill>
                <a:latin typeface="Georgia" pitchFamily="34" charset="0"/>
                <a:ea typeface="Georgia" pitchFamily="34" charset="-122"/>
                <a:cs typeface="Georgia" pitchFamily="34" charset="-120"/>
              </a:rPr>
              <a:t>ClauseGuard</a:t>
            </a:r>
            <a:endParaRPr lang="en-US" sz="5200" dirty="0"/>
          </a:p>
        </p:txBody>
      </p:sp>
      <p:sp>
        <p:nvSpPr>
          <p:cNvPr id="5" name="Text 3"/>
          <p:cNvSpPr/>
          <p:nvPr/>
        </p:nvSpPr>
        <p:spPr>
          <a:xfrm>
            <a:off x="365760" y="2240280"/>
            <a:ext cx="5029200" cy="411480"/>
          </a:xfrm>
          <a:prstGeom prst="rect">
            <a:avLst/>
          </a:prstGeom>
          <a:noFill/>
          <a:ln/>
        </p:spPr>
        <p:txBody>
          <a:bodyPr wrap="square" lIns="0" tIns="0" rIns="0" bIns="0" rtlCol="0" anchor="ctr"/>
          <a:lstStyle/>
          <a:p>
            <a:pPr marL="0" indent="0" algn="l">
              <a:buNone/>
            </a:pPr>
            <a:r>
              <a:rPr lang="en-US" sz="1800" i="1" dirty="0">
                <a:solidFill>
                  <a:srgbClr val="CADCFC"/>
                </a:solidFill>
                <a:latin typeface="Calibri Light" pitchFamily="34" charset="0"/>
                <a:ea typeface="Calibri Light" pitchFamily="34" charset="-122"/>
                <a:cs typeface="Calibri Light" pitchFamily="34" charset="-120"/>
              </a:rPr>
              <a:t>Contract Conflict Detector</a:t>
            </a:r>
            <a:endParaRPr lang="en-US" sz="1800" dirty="0"/>
          </a:p>
        </p:txBody>
      </p:sp>
      <p:sp>
        <p:nvSpPr>
          <p:cNvPr id="6" name="Shape 4"/>
          <p:cNvSpPr/>
          <p:nvPr/>
        </p:nvSpPr>
        <p:spPr>
          <a:xfrm>
            <a:off x="365760" y="2788920"/>
            <a:ext cx="4114800" cy="22860"/>
          </a:xfrm>
          <a:prstGeom prst="rect">
            <a:avLst/>
          </a:prstGeom>
          <a:solidFill>
            <a:srgbClr val="7C3AED">
              <a:alpha val="60000"/>
            </a:srgbClr>
          </a:solidFill>
          <a:ln w="12700">
            <a:solidFill>
              <a:srgbClr val="7C3AED">
                <a:alpha val="60000"/>
              </a:srgbClr>
            </a:solidFill>
            <a:prstDash val="solid"/>
          </a:ln>
        </p:spPr>
        <p:txBody>
          <a:bodyPr/>
          <a:lstStyle/>
          <a:p>
            <a:endParaRPr lang="en-US"/>
          </a:p>
        </p:txBody>
      </p:sp>
      <p:sp>
        <p:nvSpPr>
          <p:cNvPr id="7" name="Text 5"/>
          <p:cNvSpPr/>
          <p:nvPr/>
        </p:nvSpPr>
        <p:spPr>
          <a:xfrm>
            <a:off x="365760" y="2926080"/>
            <a:ext cx="5029200" cy="365760"/>
          </a:xfrm>
          <a:prstGeom prst="rect">
            <a:avLst/>
          </a:prstGeom>
          <a:noFill/>
          <a:ln/>
        </p:spPr>
        <p:txBody>
          <a:bodyPr wrap="square" lIns="0" tIns="0" rIns="0" bIns="0" rtlCol="0" anchor="ctr"/>
          <a:lstStyle/>
          <a:p>
            <a:pPr marL="0" indent="0" algn="l">
              <a:buNone/>
            </a:pPr>
            <a:r>
              <a:rPr lang="en-US" sz="1300" dirty="0">
                <a:solidFill>
                  <a:srgbClr val="94B8D4"/>
                </a:solidFill>
                <a:latin typeface="Calibri" pitchFamily="34" charset="0"/>
                <a:ea typeface="Calibri" pitchFamily="34" charset="-122"/>
                <a:cs typeface="Calibri" pitchFamily="34" charset="-120"/>
              </a:rPr>
              <a:t>Find every conflict — before you sign.</a:t>
            </a:r>
            <a:endParaRPr lang="en-US" sz="1300" dirty="0"/>
          </a:p>
        </p:txBody>
      </p:sp>
      <p:sp>
        <p:nvSpPr>
          <p:cNvPr id="8" name="Text 6"/>
          <p:cNvSpPr/>
          <p:nvPr/>
        </p:nvSpPr>
        <p:spPr>
          <a:xfrm>
            <a:off x="365760" y="4114800"/>
            <a:ext cx="5029200" cy="640080"/>
          </a:xfrm>
          <a:prstGeom prst="rect">
            <a:avLst/>
          </a:prstGeom>
          <a:noFill/>
          <a:ln/>
        </p:spPr>
        <p:txBody>
          <a:bodyPr wrap="square" lIns="0" tIns="0" rIns="0" bIns="0" rtlCol="0" anchor="ctr"/>
          <a:lstStyle/>
          <a:p>
            <a:pPr marL="0" indent="0" algn="l">
              <a:buNone/>
            </a:pPr>
            <a:r>
              <a:rPr lang="en-US" sz="1000" dirty="0">
                <a:solidFill>
                  <a:srgbClr val="7A9BBF"/>
                </a:solidFill>
                <a:latin typeface="Calibri" pitchFamily="34" charset="0"/>
                <a:ea typeface="Calibri" pitchFamily="34" charset="-122"/>
                <a:cs typeface="Calibri" pitchFamily="34" charset="-120"/>
              </a:rPr>
              <a:t>Mamadou Diallo, Nicholas Thomas, Ivin Anil</a:t>
            </a:r>
          </a:p>
          <a:p>
            <a:pPr marL="0" indent="0" algn="l">
              <a:buNone/>
            </a:pPr>
            <a:r>
              <a:rPr lang="en-US" sz="1000" dirty="0">
                <a:solidFill>
                  <a:srgbClr val="7A9BBF"/>
                </a:solidFill>
                <a:latin typeface="Calibri" pitchFamily="34" charset="0"/>
                <a:ea typeface="Calibri" pitchFamily="34" charset="-122"/>
                <a:cs typeface="Calibri" pitchFamily="34" charset="-120"/>
              </a:rPr>
              <a:t>Agentic AI &amp; Process Automation</a:t>
            </a:r>
            <a:endParaRPr lang="en-US" sz="1000" dirty="0"/>
          </a:p>
          <a:p>
            <a:pPr marL="0" indent="0" algn="l">
              <a:buNone/>
            </a:pPr>
            <a:r>
              <a:rPr lang="en-US" sz="1000" dirty="0">
                <a:solidFill>
                  <a:srgbClr val="7A9BBF"/>
                </a:solidFill>
                <a:latin typeface="Calibri" pitchFamily="34" charset="0"/>
                <a:ea typeface="Calibri" pitchFamily="34" charset="-122"/>
                <a:cs typeface="Calibri" pitchFamily="34" charset="-120"/>
              </a:rPr>
              <a:t>BUAN 6v99.s01  ·  UT Dallas  ·  April 2026</a:t>
            </a:r>
            <a:endParaRPr lang="en-US" sz="1000" dirty="0"/>
          </a:p>
        </p:txBody>
      </p:sp>
      <p:sp>
        <p:nvSpPr>
          <p:cNvPr id="9" name="Shape 7"/>
          <p:cNvSpPr/>
          <p:nvPr/>
        </p:nvSpPr>
        <p:spPr>
          <a:xfrm>
            <a:off x="5760720" y="1188720"/>
            <a:ext cx="3108960" cy="2560320"/>
          </a:xfrm>
          <a:prstGeom prst="rect">
            <a:avLst/>
          </a:prstGeom>
          <a:solidFill>
            <a:srgbClr val="FFFFFF"/>
          </a:solidFill>
          <a:ln w="12700">
            <a:solidFill>
              <a:srgbClr val="FFFFFF"/>
            </a:solidFill>
            <a:prstDash val="solid"/>
          </a:ln>
        </p:spPr>
        <p:txBody>
          <a:bodyPr/>
          <a:lstStyle/>
          <a:p>
            <a:endParaRPr lang="en-US"/>
          </a:p>
        </p:txBody>
      </p:sp>
      <p:sp>
        <p:nvSpPr>
          <p:cNvPr id="10" name="Text 8"/>
          <p:cNvSpPr/>
          <p:nvPr/>
        </p:nvSpPr>
        <p:spPr>
          <a:xfrm>
            <a:off x="5760720" y="1280160"/>
            <a:ext cx="3108960" cy="1188720"/>
          </a:xfrm>
          <a:prstGeom prst="rect">
            <a:avLst/>
          </a:prstGeom>
          <a:noFill/>
          <a:ln/>
        </p:spPr>
        <p:txBody>
          <a:bodyPr wrap="square" lIns="0" tIns="0" rIns="0" bIns="0" rtlCol="0" anchor="ctr"/>
          <a:lstStyle/>
          <a:p>
            <a:pPr marL="0" indent="0" algn="ctr">
              <a:buNone/>
            </a:pPr>
            <a:r>
              <a:rPr lang="en-US" sz="8000" b="1" dirty="0">
                <a:solidFill>
                  <a:srgbClr val="1E3A5F"/>
                </a:solidFill>
                <a:latin typeface="Georgia" pitchFamily="34" charset="0"/>
                <a:ea typeface="Georgia" pitchFamily="34" charset="-122"/>
                <a:cs typeface="Georgia" pitchFamily="34" charset="-120"/>
              </a:rPr>
              <a:t>60s</a:t>
            </a:r>
            <a:endParaRPr lang="en-US" sz="8000" dirty="0"/>
          </a:p>
        </p:txBody>
      </p:sp>
      <p:sp>
        <p:nvSpPr>
          <p:cNvPr id="11" name="Text 9"/>
          <p:cNvSpPr/>
          <p:nvPr/>
        </p:nvSpPr>
        <p:spPr>
          <a:xfrm>
            <a:off x="5760720" y="2514600"/>
            <a:ext cx="3108960"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to a complete redline brief</a:t>
            </a:r>
            <a:endParaRPr lang="en-US" sz="1300" dirty="0"/>
          </a:p>
        </p:txBody>
      </p:sp>
      <p:sp>
        <p:nvSpPr>
          <p:cNvPr id="12" name="Text 10"/>
          <p:cNvSpPr/>
          <p:nvPr/>
        </p:nvSpPr>
        <p:spPr>
          <a:xfrm>
            <a:off x="5760720" y="2926080"/>
            <a:ext cx="3108960" cy="32004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vs. 4 hours of lawyer time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Problem</a:t>
            </a:r>
            <a:endParaRPr lang="en-US" sz="2200" dirty="0"/>
          </a:p>
        </p:txBody>
      </p:sp>
      <p:sp>
        <p:nvSpPr>
          <p:cNvPr id="4" name="Shape 2"/>
          <p:cNvSpPr/>
          <p:nvPr/>
        </p:nvSpPr>
        <p:spPr>
          <a:xfrm>
            <a:off x="457200" y="960120"/>
            <a:ext cx="8229600" cy="1371600"/>
          </a:xfrm>
          <a:prstGeom prst="rect">
            <a:avLst/>
          </a:prstGeom>
          <a:solidFill>
            <a:srgbClr val="EBF2FB"/>
          </a:solidFill>
          <a:ln w="12700">
            <a:solidFill>
              <a:srgbClr val="EBF2FB"/>
            </a:solidFill>
            <a:prstDash val="solid"/>
          </a:ln>
        </p:spPr>
        <p:txBody>
          <a:bodyPr/>
          <a:lstStyle/>
          <a:p>
            <a:endParaRPr lang="en-US"/>
          </a:p>
        </p:txBody>
      </p:sp>
      <p:sp>
        <p:nvSpPr>
          <p:cNvPr id="5" name="Shape 3"/>
          <p:cNvSpPr/>
          <p:nvPr/>
        </p:nvSpPr>
        <p:spPr>
          <a:xfrm>
            <a:off x="457200" y="960120"/>
            <a:ext cx="64008" cy="1371600"/>
          </a:xfrm>
          <a:prstGeom prst="rect">
            <a:avLst/>
          </a:prstGeom>
          <a:solidFill>
            <a:srgbClr val="1E3A5F"/>
          </a:solidFill>
          <a:ln w="12700">
            <a:solidFill>
              <a:srgbClr val="1E3A5F"/>
            </a:solidFill>
            <a:prstDash val="solid"/>
          </a:ln>
        </p:spPr>
        <p:txBody>
          <a:bodyPr/>
          <a:lstStyle/>
          <a:p>
            <a:endParaRPr lang="en-US"/>
          </a:p>
        </p:txBody>
      </p:sp>
      <p:sp>
        <p:nvSpPr>
          <p:cNvPr id="6" name="Text 4"/>
          <p:cNvSpPr/>
          <p:nvPr/>
        </p:nvSpPr>
        <p:spPr>
          <a:xfrm>
            <a:off x="685800" y="1005840"/>
            <a:ext cx="7863840" cy="1280160"/>
          </a:xfrm>
          <a:prstGeom prst="rect">
            <a:avLst/>
          </a:prstGeom>
          <a:noFill/>
          <a:ln/>
        </p:spPr>
        <p:txBody>
          <a:bodyPr wrap="square" lIns="0" tIns="0" rIns="0" bIns="0" rtlCol="0" anchor="ctr"/>
          <a:lstStyle/>
          <a:p>
            <a:pPr marL="0" indent="0">
              <a:buNone/>
            </a:pPr>
            <a:r>
              <a:rPr lang="en-US" sz="1500" i="1" dirty="0">
                <a:solidFill>
                  <a:srgbClr val="1E3A5F"/>
                </a:solidFill>
                <a:latin typeface="Georgia" pitchFamily="34" charset="0"/>
                <a:ea typeface="Georgia" pitchFamily="34" charset="-122"/>
                <a:cs typeface="Georgia" pitchFamily="34" charset="-120"/>
              </a:rPr>
              <a:t>Every vendor contract contains clauses that silently conflict with your standard terms — and nobody catches them until it's too late.</a:t>
            </a:r>
            <a:endParaRPr lang="en-US" sz="1500" dirty="0"/>
          </a:p>
        </p:txBody>
      </p:sp>
      <p:sp>
        <p:nvSpPr>
          <p:cNvPr id="7" name="Shape 5"/>
          <p:cNvSpPr/>
          <p:nvPr/>
        </p:nvSpPr>
        <p:spPr>
          <a:xfrm>
            <a:off x="457200" y="2606040"/>
            <a:ext cx="2651760" cy="1737360"/>
          </a:xfrm>
          <a:prstGeom prst="rect">
            <a:avLst/>
          </a:prstGeom>
          <a:solidFill>
            <a:srgbClr val="FEF2F2"/>
          </a:solidFill>
          <a:ln w="12700">
            <a:solidFill>
              <a:srgbClr val="DC2626"/>
            </a:solidFill>
            <a:prstDash val="solid"/>
          </a:ln>
          <a:effectLst>
            <a:outerShdw blurRad="101600" dist="25400" dir="8100000" algn="bl" rotWithShape="0">
              <a:srgbClr val="000000">
                <a:alpha val="8000"/>
              </a:srgbClr>
            </a:outerShdw>
          </a:effectLst>
        </p:spPr>
        <p:txBody>
          <a:bodyPr/>
          <a:lstStyle/>
          <a:p>
            <a:endParaRPr lang="en-US"/>
          </a:p>
        </p:txBody>
      </p:sp>
      <p:sp>
        <p:nvSpPr>
          <p:cNvPr id="8" name="Text 6"/>
          <p:cNvSpPr/>
          <p:nvPr/>
        </p:nvSpPr>
        <p:spPr>
          <a:xfrm>
            <a:off x="594360" y="2697480"/>
            <a:ext cx="2377440" cy="548640"/>
          </a:xfrm>
          <a:prstGeom prst="rect">
            <a:avLst/>
          </a:prstGeom>
          <a:noFill/>
          <a:ln/>
        </p:spPr>
        <p:txBody>
          <a:bodyPr wrap="square" lIns="0" tIns="0" rIns="0" bIns="0" rtlCol="0" anchor="ctr"/>
          <a:lstStyle/>
          <a:p>
            <a:pPr marL="0" indent="0" algn="ctr">
              <a:buNone/>
            </a:pPr>
            <a:r>
              <a:rPr lang="en-US" sz="2600" b="1" dirty="0">
                <a:solidFill>
                  <a:srgbClr val="DC2626"/>
                </a:solidFill>
                <a:latin typeface="Georgia" pitchFamily="34" charset="0"/>
                <a:ea typeface="Georgia" pitchFamily="34" charset="-122"/>
                <a:cs typeface="Georgia" pitchFamily="34" charset="-120"/>
              </a:rPr>
              <a:t>$400/hr</a:t>
            </a:r>
            <a:endParaRPr lang="en-US" sz="2600" dirty="0"/>
          </a:p>
        </p:txBody>
      </p:sp>
      <p:sp>
        <p:nvSpPr>
          <p:cNvPr id="9" name="Text 7"/>
          <p:cNvSpPr/>
          <p:nvPr/>
        </p:nvSpPr>
        <p:spPr>
          <a:xfrm>
            <a:off x="594360" y="3291840"/>
            <a:ext cx="2377440" cy="822960"/>
          </a:xfrm>
          <a:prstGeom prst="rect">
            <a:avLst/>
          </a:prstGeom>
          <a:noFill/>
          <a:ln/>
        </p:spPr>
        <p:txBody>
          <a:bodyPr wrap="square" lIns="0" tIns="0" rIns="0" bIns="0" rtlCol="0" anchor="ctr"/>
          <a:lstStyle/>
          <a:p>
            <a:pPr marL="0" indent="0" algn="ctr">
              <a:buNone/>
            </a:pPr>
            <a:r>
              <a:rPr lang="en-US" sz="1100" dirty="0">
                <a:solidFill>
                  <a:srgbClr val="0F172A"/>
                </a:solidFill>
                <a:latin typeface="Calibri" pitchFamily="34" charset="0"/>
                <a:ea typeface="Calibri" pitchFamily="34" charset="-122"/>
                <a:cs typeface="Calibri" pitchFamily="34" charset="-120"/>
              </a:rPr>
              <a:t>junior lawyer rate</a:t>
            </a:r>
            <a:endParaRPr lang="en-US" sz="1100" dirty="0"/>
          </a:p>
          <a:p>
            <a:pPr marL="0" indent="0" algn="ctr">
              <a:buNone/>
            </a:pPr>
            <a:r>
              <a:rPr lang="en-US" sz="1100" dirty="0">
                <a:solidFill>
                  <a:srgbClr val="0F172A"/>
                </a:solidFill>
                <a:latin typeface="Calibri" pitchFamily="34" charset="0"/>
                <a:ea typeface="Calibri" pitchFamily="34" charset="-122"/>
                <a:cs typeface="Calibri" pitchFamily="34" charset="-120"/>
              </a:rPr>
              <a:t>for manual review</a:t>
            </a:r>
            <a:endParaRPr lang="en-US" sz="1100" dirty="0"/>
          </a:p>
        </p:txBody>
      </p:sp>
      <p:sp>
        <p:nvSpPr>
          <p:cNvPr id="10" name="Shape 8"/>
          <p:cNvSpPr/>
          <p:nvPr/>
        </p:nvSpPr>
        <p:spPr>
          <a:xfrm>
            <a:off x="3291840" y="2606040"/>
            <a:ext cx="2651760" cy="1737360"/>
          </a:xfrm>
          <a:prstGeom prst="rect">
            <a:avLst/>
          </a:prstGeom>
          <a:solidFill>
            <a:srgbClr val="FFF7ED"/>
          </a:solidFill>
          <a:ln w="12700">
            <a:solidFill>
              <a:srgbClr val="EA580C"/>
            </a:solidFill>
            <a:prstDash val="solid"/>
          </a:ln>
          <a:effectLst>
            <a:outerShdw blurRad="101600" dist="25400" dir="8100000" algn="bl" rotWithShape="0">
              <a:srgbClr val="000000">
                <a:alpha val="8000"/>
              </a:srgbClr>
            </a:outerShdw>
          </a:effectLst>
        </p:spPr>
        <p:txBody>
          <a:bodyPr/>
          <a:lstStyle/>
          <a:p>
            <a:endParaRPr lang="en-US"/>
          </a:p>
        </p:txBody>
      </p:sp>
      <p:sp>
        <p:nvSpPr>
          <p:cNvPr id="11" name="Text 9"/>
          <p:cNvSpPr/>
          <p:nvPr/>
        </p:nvSpPr>
        <p:spPr>
          <a:xfrm>
            <a:off x="3429000" y="2697480"/>
            <a:ext cx="2377440" cy="548640"/>
          </a:xfrm>
          <a:prstGeom prst="rect">
            <a:avLst/>
          </a:prstGeom>
          <a:noFill/>
          <a:ln/>
        </p:spPr>
        <p:txBody>
          <a:bodyPr wrap="square" lIns="0" tIns="0" rIns="0" bIns="0" rtlCol="0" anchor="ctr"/>
          <a:lstStyle/>
          <a:p>
            <a:pPr marL="0" indent="0" algn="ctr">
              <a:buNone/>
            </a:pPr>
            <a:r>
              <a:rPr lang="en-US" sz="2600" b="1" dirty="0">
                <a:solidFill>
                  <a:srgbClr val="EA580C"/>
                </a:solidFill>
                <a:latin typeface="Georgia" pitchFamily="34" charset="0"/>
                <a:ea typeface="Georgia" pitchFamily="34" charset="-122"/>
                <a:cs typeface="Georgia" pitchFamily="34" charset="-120"/>
              </a:rPr>
              <a:t>3–5 hrs</a:t>
            </a:r>
            <a:endParaRPr lang="en-US" sz="2600" dirty="0"/>
          </a:p>
        </p:txBody>
      </p:sp>
      <p:sp>
        <p:nvSpPr>
          <p:cNvPr id="12" name="Text 10"/>
          <p:cNvSpPr/>
          <p:nvPr/>
        </p:nvSpPr>
        <p:spPr>
          <a:xfrm>
            <a:off x="3429000" y="3291840"/>
            <a:ext cx="2377440" cy="822960"/>
          </a:xfrm>
          <a:prstGeom prst="rect">
            <a:avLst/>
          </a:prstGeom>
          <a:noFill/>
          <a:ln/>
        </p:spPr>
        <p:txBody>
          <a:bodyPr wrap="square" lIns="0" tIns="0" rIns="0" bIns="0" rtlCol="0" anchor="ctr"/>
          <a:lstStyle/>
          <a:p>
            <a:pPr marL="0" indent="0" algn="ctr">
              <a:buNone/>
            </a:pPr>
            <a:r>
              <a:rPr lang="en-US" sz="1100" dirty="0">
                <a:solidFill>
                  <a:srgbClr val="0F172A"/>
                </a:solidFill>
                <a:latin typeface="Calibri" pitchFamily="34" charset="0"/>
                <a:ea typeface="Calibri" pitchFamily="34" charset="-122"/>
                <a:cs typeface="Calibri" pitchFamily="34" charset="-120"/>
              </a:rPr>
              <a:t>per contract</a:t>
            </a:r>
            <a:endParaRPr lang="en-US" sz="1100" dirty="0"/>
          </a:p>
          <a:p>
            <a:pPr marL="0" indent="0" algn="ctr">
              <a:buNone/>
            </a:pPr>
            <a:r>
              <a:rPr lang="en-US" sz="1100" dirty="0">
                <a:solidFill>
                  <a:srgbClr val="0F172A"/>
                </a:solidFill>
                <a:latin typeface="Calibri" pitchFamily="34" charset="0"/>
                <a:ea typeface="Calibri" pitchFamily="34" charset="-122"/>
                <a:cs typeface="Calibri" pitchFamily="34" charset="-120"/>
              </a:rPr>
              <a:t>manual comparison</a:t>
            </a:r>
            <a:endParaRPr lang="en-US" sz="1100" dirty="0"/>
          </a:p>
        </p:txBody>
      </p:sp>
      <p:sp>
        <p:nvSpPr>
          <p:cNvPr id="13" name="Shape 11"/>
          <p:cNvSpPr/>
          <p:nvPr/>
        </p:nvSpPr>
        <p:spPr>
          <a:xfrm>
            <a:off x="6126480" y="2606040"/>
            <a:ext cx="2651760" cy="1737360"/>
          </a:xfrm>
          <a:prstGeom prst="rect">
            <a:avLst/>
          </a:prstGeom>
          <a:solidFill>
            <a:srgbClr val="FFFBEB"/>
          </a:solidFill>
          <a:ln w="12700">
            <a:solidFill>
              <a:srgbClr val="D97706"/>
            </a:solidFill>
            <a:prstDash val="solid"/>
          </a:ln>
          <a:effectLst>
            <a:outerShdw blurRad="101600" dist="25400" dir="8100000" algn="bl" rotWithShape="0">
              <a:srgbClr val="000000">
                <a:alpha val="8000"/>
              </a:srgbClr>
            </a:outerShdw>
          </a:effectLst>
        </p:spPr>
        <p:txBody>
          <a:bodyPr/>
          <a:lstStyle/>
          <a:p>
            <a:endParaRPr lang="en-US"/>
          </a:p>
        </p:txBody>
      </p:sp>
      <p:sp>
        <p:nvSpPr>
          <p:cNvPr id="14" name="Text 12"/>
          <p:cNvSpPr/>
          <p:nvPr/>
        </p:nvSpPr>
        <p:spPr>
          <a:xfrm>
            <a:off x="6263640" y="2697480"/>
            <a:ext cx="2377440" cy="548640"/>
          </a:xfrm>
          <a:prstGeom prst="rect">
            <a:avLst/>
          </a:prstGeom>
          <a:noFill/>
          <a:ln/>
        </p:spPr>
        <p:txBody>
          <a:bodyPr wrap="square" lIns="0" tIns="0" rIns="0" bIns="0" rtlCol="0" anchor="ctr"/>
          <a:lstStyle/>
          <a:p>
            <a:pPr marL="0" indent="0" algn="ctr">
              <a:buNone/>
            </a:pPr>
            <a:r>
              <a:rPr lang="en-US" sz="2600" b="1" dirty="0">
                <a:solidFill>
                  <a:srgbClr val="D97706"/>
                </a:solidFill>
                <a:latin typeface="Georgia" pitchFamily="34" charset="0"/>
                <a:ea typeface="Georgia" pitchFamily="34" charset="-122"/>
                <a:cs typeface="Georgia" pitchFamily="34" charset="-120"/>
              </a:rPr>
              <a:t>Missed clauses</a:t>
            </a:r>
            <a:endParaRPr lang="en-US" sz="2600" dirty="0"/>
          </a:p>
        </p:txBody>
      </p:sp>
      <p:sp>
        <p:nvSpPr>
          <p:cNvPr id="15" name="Text 13"/>
          <p:cNvSpPr/>
          <p:nvPr/>
        </p:nvSpPr>
        <p:spPr>
          <a:xfrm>
            <a:off x="6263640" y="3291840"/>
            <a:ext cx="2377440" cy="822960"/>
          </a:xfrm>
          <a:prstGeom prst="rect">
            <a:avLst/>
          </a:prstGeom>
          <a:noFill/>
          <a:ln/>
        </p:spPr>
        <p:txBody>
          <a:bodyPr wrap="square" lIns="0" tIns="0" rIns="0" bIns="0" rtlCol="0" anchor="ctr"/>
          <a:lstStyle/>
          <a:p>
            <a:pPr marL="0" indent="0" algn="ctr">
              <a:buNone/>
            </a:pPr>
            <a:r>
              <a:rPr lang="en-US" sz="1100" dirty="0">
                <a:solidFill>
                  <a:srgbClr val="0F172A"/>
                </a:solidFill>
                <a:latin typeface="Calibri" pitchFamily="34" charset="0"/>
                <a:ea typeface="Calibri" pitchFamily="34" charset="-122"/>
                <a:cs typeface="Calibri" pitchFamily="34" charset="-120"/>
              </a:rPr>
              <a:t>discovered only</a:t>
            </a:r>
            <a:endParaRPr lang="en-US" sz="1100" dirty="0"/>
          </a:p>
          <a:p>
            <a:pPr marL="0" indent="0" algn="ctr">
              <a:buNone/>
            </a:pPr>
            <a:r>
              <a:rPr lang="en-US" sz="1100" dirty="0">
                <a:solidFill>
                  <a:srgbClr val="0F172A"/>
                </a:solidFill>
                <a:latin typeface="Calibri" pitchFamily="34" charset="0"/>
                <a:ea typeface="Calibri" pitchFamily="34" charset="-122"/>
                <a:cs typeface="Calibri" pitchFamily="34" charset="-120"/>
              </a:rPr>
              <a:t>after signing</a:t>
            </a:r>
            <a:endParaRPr lang="en-US" sz="1100" dirty="0"/>
          </a:p>
        </p:txBody>
      </p:sp>
      <p:sp>
        <p:nvSpPr>
          <p:cNvPr id="16" name="Text 14"/>
          <p:cNvSpPr/>
          <p:nvPr/>
        </p:nvSpPr>
        <p:spPr>
          <a:xfrm>
            <a:off x="457200" y="4526280"/>
            <a:ext cx="8229600" cy="32004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Who feels this pain: Law firms · Procurement teams · Startups signing vendor deals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Solution</a:t>
            </a:r>
            <a:endParaRPr lang="en-US" sz="2200" dirty="0"/>
          </a:p>
        </p:txBody>
      </p:sp>
      <p:sp>
        <p:nvSpPr>
          <p:cNvPr id="4" name="Text 2"/>
          <p:cNvSpPr/>
          <p:nvPr/>
        </p:nvSpPr>
        <p:spPr>
          <a:xfrm>
            <a:off x="457200" y="960120"/>
            <a:ext cx="8229600" cy="457200"/>
          </a:xfrm>
          <a:prstGeom prst="rect">
            <a:avLst/>
          </a:prstGeom>
          <a:noFill/>
          <a:ln/>
        </p:spPr>
        <p:txBody>
          <a:bodyPr wrap="square" lIns="0" tIns="0" rIns="0" bIns="0" rtlCol="0" anchor="ctr"/>
          <a:lstStyle/>
          <a:p>
            <a:pPr marL="0" indent="0" algn="ctr">
              <a:buNone/>
            </a:pPr>
            <a:r>
              <a:rPr lang="en-US" sz="1600" i="1" dirty="0">
                <a:solidFill>
                  <a:srgbClr val="1E3A5F"/>
                </a:solidFill>
                <a:latin typeface="Georgia" pitchFamily="34" charset="0"/>
                <a:ea typeface="Georgia" pitchFamily="34" charset="-122"/>
                <a:cs typeface="Georgia" pitchFamily="34" charset="-120"/>
              </a:rPr>
              <a:t>Upload two PDFs. ClauseGuard does the rest.</a:t>
            </a:r>
            <a:endParaRPr lang="en-US" sz="1600" dirty="0"/>
          </a:p>
        </p:txBody>
      </p:sp>
      <p:sp>
        <p:nvSpPr>
          <p:cNvPr id="5" name="Shape 3"/>
          <p:cNvSpPr/>
          <p:nvPr/>
        </p:nvSpPr>
        <p:spPr>
          <a:xfrm>
            <a:off x="640080" y="1600200"/>
            <a:ext cx="1645920" cy="1645920"/>
          </a:xfrm>
          <a:prstGeom prst="rect">
            <a:avLst/>
          </a:prstGeom>
          <a:solidFill>
            <a:srgbClr val="1E3A5F"/>
          </a:solidFill>
          <a:ln w="12700">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6" name="Text 4"/>
          <p:cNvSpPr/>
          <p:nvPr/>
        </p:nvSpPr>
        <p:spPr>
          <a:xfrm>
            <a:off x="640080" y="1691640"/>
            <a:ext cx="1645920" cy="5486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7" name="Text 5"/>
          <p:cNvSpPr/>
          <p:nvPr/>
        </p:nvSpPr>
        <p:spPr>
          <a:xfrm>
            <a:off x="640080" y="2286000"/>
            <a:ext cx="1645920" cy="822960"/>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Extract clauses</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from both PDFs</a:t>
            </a:r>
            <a:endParaRPr lang="en-US" sz="1050" dirty="0"/>
          </a:p>
        </p:txBody>
      </p:sp>
      <p:sp>
        <p:nvSpPr>
          <p:cNvPr id="8" name="Shape 6"/>
          <p:cNvSpPr/>
          <p:nvPr/>
        </p:nvSpPr>
        <p:spPr>
          <a:xfrm>
            <a:off x="2304288" y="2423160"/>
            <a:ext cx="329184" cy="0"/>
          </a:xfrm>
          <a:prstGeom prst="line">
            <a:avLst/>
          </a:prstGeom>
          <a:noFill/>
          <a:ln w="19050">
            <a:solidFill>
              <a:srgbClr val="E2E8F0"/>
            </a:solidFill>
            <a:prstDash val="solid"/>
          </a:ln>
        </p:spPr>
        <p:txBody>
          <a:bodyPr/>
          <a:lstStyle/>
          <a:p>
            <a:endParaRPr lang="en-US"/>
          </a:p>
        </p:txBody>
      </p:sp>
      <p:sp>
        <p:nvSpPr>
          <p:cNvPr id="9" name="Text 7"/>
          <p:cNvSpPr/>
          <p:nvPr/>
        </p:nvSpPr>
        <p:spPr>
          <a:xfrm>
            <a:off x="2441448" y="2286000"/>
            <a:ext cx="228600" cy="32004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651760" y="1600200"/>
            <a:ext cx="1645920" cy="1645920"/>
          </a:xfrm>
          <a:prstGeom prst="rect">
            <a:avLst/>
          </a:prstGeom>
          <a:solidFill>
            <a:srgbClr val="2D5282"/>
          </a:solidFill>
          <a:ln w="12700">
            <a:solidFill>
              <a:srgbClr val="2D5282"/>
            </a:solidFill>
            <a:prstDash val="solid"/>
          </a:ln>
          <a:effectLst>
            <a:outerShdw blurRad="101600" dist="25400" dir="8100000" algn="bl" rotWithShape="0">
              <a:srgbClr val="000000">
                <a:alpha val="8000"/>
              </a:srgbClr>
            </a:outerShdw>
          </a:effectLst>
        </p:spPr>
        <p:txBody>
          <a:bodyPr/>
          <a:lstStyle/>
          <a:p>
            <a:endParaRPr lang="en-US"/>
          </a:p>
        </p:txBody>
      </p:sp>
      <p:sp>
        <p:nvSpPr>
          <p:cNvPr id="11" name="Text 9"/>
          <p:cNvSpPr/>
          <p:nvPr/>
        </p:nvSpPr>
        <p:spPr>
          <a:xfrm>
            <a:off x="2651760" y="1691640"/>
            <a:ext cx="1645920" cy="5486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2" name="Text 10"/>
          <p:cNvSpPr/>
          <p:nvPr/>
        </p:nvSpPr>
        <p:spPr>
          <a:xfrm>
            <a:off x="2651760" y="2286000"/>
            <a:ext cx="1645920" cy="822960"/>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Semantic</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conflict analysis</a:t>
            </a:r>
            <a:endParaRPr lang="en-US" sz="1050" dirty="0"/>
          </a:p>
        </p:txBody>
      </p:sp>
      <p:sp>
        <p:nvSpPr>
          <p:cNvPr id="13" name="Shape 11"/>
          <p:cNvSpPr/>
          <p:nvPr/>
        </p:nvSpPr>
        <p:spPr>
          <a:xfrm>
            <a:off x="4315968" y="2423160"/>
            <a:ext cx="329184" cy="0"/>
          </a:xfrm>
          <a:prstGeom prst="line">
            <a:avLst/>
          </a:prstGeom>
          <a:noFill/>
          <a:ln w="19050">
            <a:solidFill>
              <a:srgbClr val="E2E8F0"/>
            </a:solidFill>
            <a:prstDash val="solid"/>
          </a:ln>
        </p:spPr>
        <p:txBody>
          <a:bodyPr/>
          <a:lstStyle/>
          <a:p>
            <a:endParaRPr lang="en-US"/>
          </a:p>
        </p:txBody>
      </p:sp>
      <p:sp>
        <p:nvSpPr>
          <p:cNvPr id="14" name="Text 12"/>
          <p:cNvSpPr/>
          <p:nvPr/>
        </p:nvSpPr>
        <p:spPr>
          <a:xfrm>
            <a:off x="4453128" y="2286000"/>
            <a:ext cx="228600" cy="32004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4663440" y="1600200"/>
            <a:ext cx="1645920" cy="1645920"/>
          </a:xfrm>
          <a:prstGeom prst="rect">
            <a:avLst/>
          </a:prstGeom>
          <a:solidFill>
            <a:srgbClr val="7C3AED"/>
          </a:solidFill>
          <a:ln w="12700">
            <a:solidFill>
              <a:srgbClr val="7C3AED"/>
            </a:solidFill>
            <a:prstDash val="solid"/>
          </a:ln>
          <a:effectLst>
            <a:outerShdw blurRad="101600" dist="25400" dir="8100000" algn="bl" rotWithShape="0">
              <a:srgbClr val="000000">
                <a:alpha val="8000"/>
              </a:srgbClr>
            </a:outerShdw>
          </a:effectLst>
        </p:spPr>
        <p:txBody>
          <a:bodyPr/>
          <a:lstStyle/>
          <a:p>
            <a:endParaRPr lang="en-US"/>
          </a:p>
        </p:txBody>
      </p:sp>
      <p:sp>
        <p:nvSpPr>
          <p:cNvPr id="16" name="Text 14"/>
          <p:cNvSpPr/>
          <p:nvPr/>
        </p:nvSpPr>
        <p:spPr>
          <a:xfrm>
            <a:off x="4663440" y="1691640"/>
            <a:ext cx="1645920" cy="5486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17" name="Text 15"/>
          <p:cNvSpPr/>
          <p:nvPr/>
        </p:nvSpPr>
        <p:spPr>
          <a:xfrm>
            <a:off x="4663440" y="2286000"/>
            <a:ext cx="1645920" cy="822960"/>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Risk</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assessment</a:t>
            </a:r>
            <a:endParaRPr lang="en-US" sz="1050" dirty="0"/>
          </a:p>
        </p:txBody>
      </p:sp>
      <p:sp>
        <p:nvSpPr>
          <p:cNvPr id="18" name="Shape 16"/>
          <p:cNvSpPr/>
          <p:nvPr/>
        </p:nvSpPr>
        <p:spPr>
          <a:xfrm>
            <a:off x="6327648" y="2423160"/>
            <a:ext cx="329184" cy="0"/>
          </a:xfrm>
          <a:prstGeom prst="line">
            <a:avLst/>
          </a:prstGeom>
          <a:noFill/>
          <a:ln w="19050">
            <a:solidFill>
              <a:srgbClr val="E2E8F0"/>
            </a:solidFill>
            <a:prstDash val="solid"/>
          </a:ln>
        </p:spPr>
        <p:txBody>
          <a:bodyPr/>
          <a:lstStyle/>
          <a:p>
            <a:endParaRPr lang="en-US"/>
          </a:p>
        </p:txBody>
      </p:sp>
      <p:sp>
        <p:nvSpPr>
          <p:cNvPr id="19" name="Text 17"/>
          <p:cNvSpPr/>
          <p:nvPr/>
        </p:nvSpPr>
        <p:spPr>
          <a:xfrm>
            <a:off x="6464808" y="2286000"/>
            <a:ext cx="228600" cy="32004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6675120" y="1600200"/>
            <a:ext cx="1645920" cy="1645920"/>
          </a:xfrm>
          <a:prstGeom prst="rect">
            <a:avLst/>
          </a:prstGeom>
          <a:solidFill>
            <a:srgbClr val="065A82"/>
          </a:solidFill>
          <a:ln w="12700">
            <a:solidFill>
              <a:srgbClr val="065A82"/>
            </a:solidFill>
            <a:prstDash val="solid"/>
          </a:ln>
          <a:effectLst>
            <a:outerShdw blurRad="101600" dist="25400" dir="8100000" algn="bl" rotWithShape="0">
              <a:srgbClr val="000000">
                <a:alpha val="8000"/>
              </a:srgbClr>
            </a:outerShdw>
          </a:effectLst>
        </p:spPr>
        <p:txBody>
          <a:bodyPr/>
          <a:lstStyle/>
          <a:p>
            <a:endParaRPr lang="en-US"/>
          </a:p>
        </p:txBody>
      </p:sp>
      <p:sp>
        <p:nvSpPr>
          <p:cNvPr id="21" name="Text 19"/>
          <p:cNvSpPr/>
          <p:nvPr/>
        </p:nvSpPr>
        <p:spPr>
          <a:xfrm>
            <a:off x="6675120" y="1691640"/>
            <a:ext cx="1645920" cy="5486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4</a:t>
            </a:r>
            <a:endParaRPr lang="en-US" sz="2800" dirty="0"/>
          </a:p>
        </p:txBody>
      </p:sp>
      <p:sp>
        <p:nvSpPr>
          <p:cNvPr id="22" name="Text 20"/>
          <p:cNvSpPr/>
          <p:nvPr/>
        </p:nvSpPr>
        <p:spPr>
          <a:xfrm>
            <a:off x="6675120" y="2286000"/>
            <a:ext cx="1645920" cy="822960"/>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Redline brief</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 PDF export</a:t>
            </a:r>
            <a:endParaRPr lang="en-US" sz="1050" dirty="0"/>
          </a:p>
        </p:txBody>
      </p:sp>
      <p:sp>
        <p:nvSpPr>
          <p:cNvPr id="23" name="Shape 21"/>
          <p:cNvSpPr/>
          <p:nvPr/>
        </p:nvSpPr>
        <p:spPr>
          <a:xfrm>
            <a:off x="457200" y="3429000"/>
            <a:ext cx="8229600" cy="1417320"/>
          </a:xfrm>
          <a:prstGeom prst="rect">
            <a:avLst/>
          </a:prstGeom>
          <a:solidFill>
            <a:srgbClr val="F8FAFC"/>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24" name="Text 22"/>
          <p:cNvSpPr/>
          <p:nvPr/>
        </p:nvSpPr>
        <p:spPr>
          <a:xfrm>
            <a:off x="685800" y="3520440"/>
            <a:ext cx="18288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Sample output:</a:t>
            </a:r>
            <a:endParaRPr lang="en-US" sz="900" dirty="0"/>
          </a:p>
        </p:txBody>
      </p:sp>
      <p:sp>
        <p:nvSpPr>
          <p:cNvPr id="25" name="Shape 23"/>
          <p:cNvSpPr/>
          <p:nvPr/>
        </p:nvSpPr>
        <p:spPr>
          <a:xfrm>
            <a:off x="594360" y="3886200"/>
            <a:ext cx="2606040" cy="777240"/>
          </a:xfrm>
          <a:prstGeom prst="rect">
            <a:avLst/>
          </a:prstGeom>
          <a:solidFill>
            <a:srgbClr val="FEF2F2"/>
          </a:solidFill>
          <a:ln w="9525">
            <a:solidFill>
              <a:srgbClr val="DC2626"/>
            </a:solidFill>
            <a:prstDash val="solid"/>
          </a:ln>
        </p:spPr>
        <p:txBody>
          <a:bodyPr/>
          <a:lstStyle/>
          <a:p>
            <a:endParaRPr lang="en-US"/>
          </a:p>
        </p:txBody>
      </p:sp>
      <p:sp>
        <p:nvSpPr>
          <p:cNvPr id="26" name="Shape 24"/>
          <p:cNvSpPr/>
          <p:nvPr/>
        </p:nvSpPr>
        <p:spPr>
          <a:xfrm>
            <a:off x="594360" y="3886200"/>
            <a:ext cx="54864" cy="777240"/>
          </a:xfrm>
          <a:prstGeom prst="rect">
            <a:avLst/>
          </a:prstGeom>
          <a:solidFill>
            <a:srgbClr val="DC2626"/>
          </a:solidFill>
          <a:ln w="12700">
            <a:solidFill>
              <a:srgbClr val="DC2626"/>
            </a:solidFill>
            <a:prstDash val="solid"/>
          </a:ln>
        </p:spPr>
        <p:txBody>
          <a:bodyPr/>
          <a:lstStyle/>
          <a:p>
            <a:endParaRPr lang="en-US"/>
          </a:p>
        </p:txBody>
      </p:sp>
      <p:sp>
        <p:nvSpPr>
          <p:cNvPr id="27" name="Text 25"/>
          <p:cNvSpPr/>
          <p:nvPr/>
        </p:nvSpPr>
        <p:spPr>
          <a:xfrm>
            <a:off x="704088" y="3931920"/>
            <a:ext cx="1097280" cy="201168"/>
          </a:xfrm>
          <a:prstGeom prst="rect">
            <a:avLst/>
          </a:prstGeom>
          <a:noFill/>
          <a:ln/>
        </p:spPr>
        <p:txBody>
          <a:bodyPr wrap="square" lIns="0" tIns="0" rIns="0" bIns="0" rtlCol="0" anchor="ctr"/>
          <a:lstStyle/>
          <a:p>
            <a:pPr marL="0" indent="0">
              <a:buNone/>
            </a:pPr>
            <a:r>
              <a:rPr lang="en-US" sz="800" b="1" dirty="0">
                <a:solidFill>
                  <a:srgbClr val="DC2626"/>
                </a:solidFill>
                <a:latin typeface="Calibri" pitchFamily="34" charset="0"/>
                <a:ea typeface="Calibri" pitchFamily="34" charset="-122"/>
                <a:cs typeface="Calibri" pitchFamily="34" charset="-120"/>
              </a:rPr>
              <a:t>CRITICAL</a:t>
            </a:r>
            <a:endParaRPr lang="en-US" sz="800" dirty="0"/>
          </a:p>
        </p:txBody>
      </p:sp>
      <p:sp>
        <p:nvSpPr>
          <p:cNvPr id="28" name="Text 26"/>
          <p:cNvSpPr/>
          <p:nvPr/>
        </p:nvSpPr>
        <p:spPr>
          <a:xfrm>
            <a:off x="704088" y="4133088"/>
            <a:ext cx="2377440" cy="201168"/>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Liability cap</a:t>
            </a:r>
            <a:endParaRPr lang="en-US" sz="1000" dirty="0"/>
          </a:p>
        </p:txBody>
      </p:sp>
      <p:sp>
        <p:nvSpPr>
          <p:cNvPr id="29" name="Text 27"/>
          <p:cNvSpPr/>
          <p:nvPr/>
        </p:nvSpPr>
        <p:spPr>
          <a:xfrm>
            <a:off x="704088" y="4334256"/>
            <a:ext cx="237744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3-month cap vs. 12-month + unlimited for IP claims</a:t>
            </a:r>
            <a:endParaRPr lang="en-US" sz="850" dirty="0"/>
          </a:p>
        </p:txBody>
      </p:sp>
      <p:sp>
        <p:nvSpPr>
          <p:cNvPr id="30" name="Shape 28"/>
          <p:cNvSpPr/>
          <p:nvPr/>
        </p:nvSpPr>
        <p:spPr>
          <a:xfrm>
            <a:off x="3383280" y="3886200"/>
            <a:ext cx="2606040" cy="777240"/>
          </a:xfrm>
          <a:prstGeom prst="rect">
            <a:avLst/>
          </a:prstGeom>
          <a:solidFill>
            <a:srgbClr val="FFF7ED"/>
          </a:solidFill>
          <a:ln w="9525">
            <a:solidFill>
              <a:srgbClr val="EA580C"/>
            </a:solidFill>
            <a:prstDash val="solid"/>
          </a:ln>
        </p:spPr>
        <p:txBody>
          <a:bodyPr/>
          <a:lstStyle/>
          <a:p>
            <a:endParaRPr lang="en-US"/>
          </a:p>
        </p:txBody>
      </p:sp>
      <p:sp>
        <p:nvSpPr>
          <p:cNvPr id="31" name="Shape 29"/>
          <p:cNvSpPr/>
          <p:nvPr/>
        </p:nvSpPr>
        <p:spPr>
          <a:xfrm>
            <a:off x="3383280" y="3886200"/>
            <a:ext cx="54864" cy="777240"/>
          </a:xfrm>
          <a:prstGeom prst="rect">
            <a:avLst/>
          </a:prstGeom>
          <a:solidFill>
            <a:srgbClr val="EA580C"/>
          </a:solidFill>
          <a:ln w="12700">
            <a:solidFill>
              <a:srgbClr val="EA580C"/>
            </a:solidFill>
            <a:prstDash val="solid"/>
          </a:ln>
        </p:spPr>
        <p:txBody>
          <a:bodyPr/>
          <a:lstStyle/>
          <a:p>
            <a:endParaRPr lang="en-US"/>
          </a:p>
        </p:txBody>
      </p:sp>
      <p:sp>
        <p:nvSpPr>
          <p:cNvPr id="32" name="Text 30"/>
          <p:cNvSpPr/>
          <p:nvPr/>
        </p:nvSpPr>
        <p:spPr>
          <a:xfrm>
            <a:off x="3493008" y="3931920"/>
            <a:ext cx="1097280" cy="201168"/>
          </a:xfrm>
          <a:prstGeom prst="rect">
            <a:avLst/>
          </a:prstGeom>
          <a:noFill/>
          <a:ln/>
        </p:spPr>
        <p:txBody>
          <a:bodyPr wrap="square" lIns="0" tIns="0" rIns="0" bIns="0" rtlCol="0" anchor="ctr"/>
          <a:lstStyle/>
          <a:p>
            <a:pPr marL="0" indent="0">
              <a:buNone/>
            </a:pPr>
            <a:r>
              <a:rPr lang="en-US" sz="800" b="1" dirty="0">
                <a:solidFill>
                  <a:srgbClr val="EA580C"/>
                </a:solidFill>
                <a:latin typeface="Calibri" pitchFamily="34" charset="0"/>
                <a:ea typeface="Calibri" pitchFamily="34" charset="-122"/>
                <a:cs typeface="Calibri" pitchFamily="34" charset="-120"/>
              </a:rPr>
              <a:t>HIGH</a:t>
            </a:r>
            <a:endParaRPr lang="en-US" sz="800" dirty="0"/>
          </a:p>
        </p:txBody>
      </p:sp>
      <p:sp>
        <p:nvSpPr>
          <p:cNvPr id="33" name="Text 31"/>
          <p:cNvSpPr/>
          <p:nvPr/>
        </p:nvSpPr>
        <p:spPr>
          <a:xfrm>
            <a:off x="3493008" y="4133088"/>
            <a:ext cx="2377440" cy="201168"/>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Payment terms</a:t>
            </a:r>
            <a:endParaRPr lang="en-US" sz="1000" dirty="0"/>
          </a:p>
        </p:txBody>
      </p:sp>
      <p:sp>
        <p:nvSpPr>
          <p:cNvPr id="34" name="Text 32"/>
          <p:cNvSpPr/>
          <p:nvPr/>
        </p:nvSpPr>
        <p:spPr>
          <a:xfrm>
            <a:off x="3493008" y="4334256"/>
            <a:ext cx="237744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Net 60 vs. Net 30 — 30-day gap in cash flow</a:t>
            </a:r>
            <a:endParaRPr lang="en-US" sz="850" dirty="0"/>
          </a:p>
        </p:txBody>
      </p:sp>
      <p:sp>
        <p:nvSpPr>
          <p:cNvPr id="35" name="Shape 33"/>
          <p:cNvSpPr/>
          <p:nvPr/>
        </p:nvSpPr>
        <p:spPr>
          <a:xfrm>
            <a:off x="6172200" y="3886200"/>
            <a:ext cx="2606040" cy="777240"/>
          </a:xfrm>
          <a:prstGeom prst="rect">
            <a:avLst/>
          </a:prstGeom>
          <a:solidFill>
            <a:srgbClr val="FFF7ED"/>
          </a:solidFill>
          <a:ln w="9525">
            <a:solidFill>
              <a:srgbClr val="EA580C"/>
            </a:solidFill>
            <a:prstDash val="solid"/>
          </a:ln>
        </p:spPr>
        <p:txBody>
          <a:bodyPr/>
          <a:lstStyle/>
          <a:p>
            <a:endParaRPr lang="en-US"/>
          </a:p>
        </p:txBody>
      </p:sp>
      <p:sp>
        <p:nvSpPr>
          <p:cNvPr id="36" name="Shape 34"/>
          <p:cNvSpPr/>
          <p:nvPr/>
        </p:nvSpPr>
        <p:spPr>
          <a:xfrm>
            <a:off x="6172200" y="3886200"/>
            <a:ext cx="54864" cy="777240"/>
          </a:xfrm>
          <a:prstGeom prst="rect">
            <a:avLst/>
          </a:prstGeom>
          <a:solidFill>
            <a:srgbClr val="EA580C"/>
          </a:solidFill>
          <a:ln w="12700">
            <a:solidFill>
              <a:srgbClr val="EA580C"/>
            </a:solidFill>
            <a:prstDash val="solid"/>
          </a:ln>
        </p:spPr>
        <p:txBody>
          <a:bodyPr/>
          <a:lstStyle/>
          <a:p>
            <a:endParaRPr lang="en-US"/>
          </a:p>
        </p:txBody>
      </p:sp>
      <p:sp>
        <p:nvSpPr>
          <p:cNvPr id="37" name="Text 35"/>
          <p:cNvSpPr/>
          <p:nvPr/>
        </p:nvSpPr>
        <p:spPr>
          <a:xfrm>
            <a:off x="6281928" y="3931920"/>
            <a:ext cx="1097280" cy="201168"/>
          </a:xfrm>
          <a:prstGeom prst="rect">
            <a:avLst/>
          </a:prstGeom>
          <a:noFill/>
          <a:ln/>
        </p:spPr>
        <p:txBody>
          <a:bodyPr wrap="square" lIns="0" tIns="0" rIns="0" bIns="0" rtlCol="0" anchor="ctr"/>
          <a:lstStyle/>
          <a:p>
            <a:pPr marL="0" indent="0">
              <a:buNone/>
            </a:pPr>
            <a:r>
              <a:rPr lang="en-US" sz="800" b="1" dirty="0">
                <a:solidFill>
                  <a:srgbClr val="EA580C"/>
                </a:solidFill>
                <a:latin typeface="Calibri" pitchFamily="34" charset="0"/>
                <a:ea typeface="Calibri" pitchFamily="34" charset="-122"/>
                <a:cs typeface="Calibri" pitchFamily="34" charset="-120"/>
              </a:rPr>
              <a:t>HIGH</a:t>
            </a:r>
            <a:endParaRPr lang="en-US" sz="800" dirty="0"/>
          </a:p>
        </p:txBody>
      </p:sp>
      <p:sp>
        <p:nvSpPr>
          <p:cNvPr id="38" name="Text 36"/>
          <p:cNvSpPr/>
          <p:nvPr/>
        </p:nvSpPr>
        <p:spPr>
          <a:xfrm>
            <a:off x="6281928" y="4133088"/>
            <a:ext cx="2377440" cy="201168"/>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IP ownership</a:t>
            </a:r>
            <a:endParaRPr lang="en-US" sz="1000" dirty="0"/>
          </a:p>
        </p:txBody>
      </p:sp>
      <p:sp>
        <p:nvSpPr>
          <p:cNvPr id="39" name="Text 37"/>
          <p:cNvSpPr/>
          <p:nvPr/>
        </p:nvSpPr>
        <p:spPr>
          <a:xfrm>
            <a:off x="6281928" y="4334256"/>
            <a:ext cx="237744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Company owns all work vs. Vendor retains all rights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Agent Architecture</a:t>
            </a:r>
            <a:endParaRPr lang="en-US" sz="2200" dirty="0"/>
          </a:p>
        </p:txBody>
      </p:sp>
      <p:sp>
        <p:nvSpPr>
          <p:cNvPr id="4" name="Text 2"/>
          <p:cNvSpPr/>
          <p:nvPr/>
        </p:nvSpPr>
        <p:spPr>
          <a:xfrm>
            <a:off x="457200" y="0"/>
            <a:ext cx="8229600" cy="77724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Built from scratch · Anthropic Claude SDK · No low-code platforms</a:t>
            </a:r>
            <a:endParaRPr lang="en-US" sz="1000" dirty="0"/>
          </a:p>
        </p:txBody>
      </p:sp>
      <p:sp>
        <p:nvSpPr>
          <p:cNvPr id="5" name="Shape 3"/>
          <p:cNvSpPr/>
          <p:nvPr/>
        </p:nvSpPr>
        <p:spPr>
          <a:xfrm>
            <a:off x="365760" y="914400"/>
            <a:ext cx="3749040" cy="3931920"/>
          </a:xfrm>
          <a:prstGeom prst="rect">
            <a:avLst/>
          </a:prstGeom>
          <a:solidFill>
            <a:srgbClr val="F8FAFC"/>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6" name="Text 4"/>
          <p:cNvSpPr/>
          <p:nvPr/>
        </p:nvSpPr>
        <p:spPr>
          <a:xfrm>
            <a:off x="502920" y="1005840"/>
            <a:ext cx="3474720" cy="320040"/>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The 2 Tools Claude Can Call</a:t>
            </a:r>
            <a:endParaRPr lang="en-US" sz="1100" dirty="0"/>
          </a:p>
        </p:txBody>
      </p:sp>
      <p:sp>
        <p:nvSpPr>
          <p:cNvPr id="7" name="Shape 5"/>
          <p:cNvSpPr/>
          <p:nvPr/>
        </p:nvSpPr>
        <p:spPr>
          <a:xfrm>
            <a:off x="502920" y="1508760"/>
            <a:ext cx="3474720" cy="1005840"/>
          </a:xfrm>
          <a:prstGeom prst="rect">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502920" y="1508760"/>
            <a:ext cx="54864" cy="1005840"/>
          </a:xfrm>
          <a:prstGeom prst="rect">
            <a:avLst/>
          </a:prstGeom>
          <a:solidFill>
            <a:srgbClr val="1E3A5F"/>
          </a:solidFill>
          <a:ln w="12700">
            <a:solidFill>
              <a:srgbClr val="1E3A5F"/>
            </a:solidFill>
            <a:prstDash val="solid"/>
          </a:ln>
        </p:spPr>
        <p:txBody>
          <a:bodyPr/>
          <a:lstStyle/>
          <a:p>
            <a:endParaRPr lang="en-US"/>
          </a:p>
        </p:txBody>
      </p:sp>
      <p:sp>
        <p:nvSpPr>
          <p:cNvPr id="9" name="Text 7"/>
          <p:cNvSpPr/>
          <p:nvPr/>
        </p:nvSpPr>
        <p:spPr>
          <a:xfrm>
            <a:off x="658368" y="1618488"/>
            <a:ext cx="3200400" cy="274320"/>
          </a:xfrm>
          <a:prstGeom prst="rect">
            <a:avLst/>
          </a:prstGeom>
          <a:noFill/>
          <a:ln/>
        </p:spPr>
        <p:txBody>
          <a:bodyPr wrap="square" lIns="0" tIns="0" rIns="0" bIns="0" rtlCol="0" anchor="ctr"/>
          <a:lstStyle/>
          <a:p>
            <a:pPr marL="0" indent="0">
              <a:buNone/>
            </a:pPr>
            <a:r>
              <a:rPr lang="en-US" sz="950" b="1" dirty="0">
                <a:solidFill>
                  <a:srgbClr val="1E3A5F"/>
                </a:solidFill>
                <a:latin typeface="Courier New" pitchFamily="34" charset="0"/>
                <a:ea typeface="Courier New" pitchFamily="34" charset="-122"/>
                <a:cs typeface="Courier New" pitchFamily="34" charset="-120"/>
              </a:rPr>
              <a:t>extract_clauses()</a:t>
            </a:r>
            <a:endParaRPr lang="en-US" sz="950" dirty="0"/>
          </a:p>
        </p:txBody>
      </p:sp>
      <p:sp>
        <p:nvSpPr>
          <p:cNvPr id="10" name="Text 8"/>
          <p:cNvSpPr/>
          <p:nvPr/>
        </p:nvSpPr>
        <p:spPr>
          <a:xfrm>
            <a:off x="658368" y="1965960"/>
            <a:ext cx="3200400" cy="4114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Parses PDF → structured clause list per contract</a:t>
            </a:r>
            <a:endParaRPr lang="en-US" sz="900" dirty="0"/>
          </a:p>
        </p:txBody>
      </p:sp>
      <p:sp>
        <p:nvSpPr>
          <p:cNvPr id="11" name="Shape 9"/>
          <p:cNvSpPr/>
          <p:nvPr/>
        </p:nvSpPr>
        <p:spPr>
          <a:xfrm>
            <a:off x="502920" y="2788920"/>
            <a:ext cx="3474720" cy="1005840"/>
          </a:xfrm>
          <a:prstGeom prst="rect">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502920" y="2788920"/>
            <a:ext cx="54864" cy="1005840"/>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658368" y="2898648"/>
            <a:ext cx="3200400" cy="274320"/>
          </a:xfrm>
          <a:prstGeom prst="rect">
            <a:avLst/>
          </a:prstGeom>
          <a:noFill/>
          <a:ln/>
        </p:spPr>
        <p:txBody>
          <a:bodyPr wrap="square" lIns="0" tIns="0" rIns="0" bIns="0" rtlCol="0" anchor="ctr"/>
          <a:lstStyle/>
          <a:p>
            <a:pPr marL="0" indent="0">
              <a:buNone/>
            </a:pPr>
            <a:r>
              <a:rPr lang="en-US" sz="950" b="1" dirty="0">
                <a:solidFill>
                  <a:srgbClr val="7C3AED"/>
                </a:solidFill>
                <a:latin typeface="Courier New" pitchFamily="34" charset="0"/>
                <a:ea typeface="Courier New" pitchFamily="34" charset="-122"/>
                <a:cs typeface="Courier New" pitchFamily="34" charset="-120"/>
              </a:rPr>
              <a:t>generate_redline_brief()</a:t>
            </a:r>
            <a:endParaRPr lang="en-US" sz="950" dirty="0"/>
          </a:p>
        </p:txBody>
      </p:sp>
      <p:sp>
        <p:nvSpPr>
          <p:cNvPr id="14" name="Text 12"/>
          <p:cNvSpPr/>
          <p:nvPr/>
        </p:nvSpPr>
        <p:spPr>
          <a:xfrm>
            <a:off x="658368" y="3246120"/>
            <a:ext cx="3200400" cy="4114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Compiles Claude's identified conflicts into a structured JSON report</a:t>
            </a:r>
            <a:endParaRPr lang="en-US" sz="900" dirty="0"/>
          </a:p>
        </p:txBody>
      </p:sp>
      <p:sp>
        <p:nvSpPr>
          <p:cNvPr id="15" name="Text 13"/>
          <p:cNvSpPr/>
          <p:nvPr/>
        </p:nvSpPr>
        <p:spPr>
          <a:xfrm>
            <a:off x="502920" y="4160520"/>
            <a:ext cx="3474720" cy="50292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Conflict detection and risk assignment happen inside Claude's reasoning — no Python heuristic needed.</a:t>
            </a:r>
            <a:endParaRPr lang="en-US" sz="850" dirty="0"/>
          </a:p>
        </p:txBody>
      </p:sp>
      <p:sp>
        <p:nvSpPr>
          <p:cNvPr id="16" name="Shape 14"/>
          <p:cNvSpPr/>
          <p:nvPr/>
        </p:nvSpPr>
        <p:spPr>
          <a:xfrm>
            <a:off x="4480560" y="914400"/>
            <a:ext cx="4297680" cy="3931920"/>
          </a:xfrm>
          <a:prstGeom prst="rect">
            <a:avLst/>
          </a:prstGeom>
          <a:solidFill>
            <a:srgbClr val="1E3A5F"/>
          </a:solidFill>
          <a:ln w="12700">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17" name="Text 15"/>
          <p:cNvSpPr/>
          <p:nvPr/>
        </p:nvSpPr>
        <p:spPr>
          <a:xfrm>
            <a:off x="4663440" y="1005840"/>
            <a:ext cx="393192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Agentic Loop</a:t>
            </a:r>
            <a:endParaRPr lang="en-US" sz="1100" dirty="0"/>
          </a:p>
        </p:txBody>
      </p:sp>
      <p:sp>
        <p:nvSpPr>
          <p:cNvPr id="18" name="Shape 16"/>
          <p:cNvSpPr/>
          <p:nvPr/>
        </p:nvSpPr>
        <p:spPr>
          <a:xfrm>
            <a:off x="4663440" y="1463040"/>
            <a:ext cx="3931920" cy="502920"/>
          </a:xfrm>
          <a:prstGeom prst="rect">
            <a:avLst/>
          </a:prstGeom>
          <a:solidFill>
            <a:srgbClr val="1E3A5F"/>
          </a:solidFill>
          <a:ln w="12700">
            <a:solidFill>
              <a:srgbClr val="2D5282"/>
            </a:solidFill>
            <a:prstDash val="solid"/>
          </a:ln>
        </p:spPr>
        <p:txBody>
          <a:bodyPr/>
          <a:lstStyle/>
          <a:p>
            <a:endParaRPr lang="en-US"/>
          </a:p>
        </p:txBody>
      </p:sp>
      <p:sp>
        <p:nvSpPr>
          <p:cNvPr id="19" name="Text 17"/>
          <p:cNvSpPr/>
          <p:nvPr/>
        </p:nvSpPr>
        <p:spPr>
          <a:xfrm>
            <a:off x="4663440" y="1463040"/>
            <a:ext cx="320040" cy="502920"/>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5010912" y="1463040"/>
            <a:ext cx="347472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User uploads Contract A + Contract B</a:t>
            </a:r>
            <a:endParaRPr lang="en-US" sz="1000" dirty="0"/>
          </a:p>
        </p:txBody>
      </p:sp>
      <p:sp>
        <p:nvSpPr>
          <p:cNvPr id="21" name="Shape 19"/>
          <p:cNvSpPr/>
          <p:nvPr/>
        </p:nvSpPr>
        <p:spPr>
          <a:xfrm>
            <a:off x="4828032" y="1965960"/>
            <a:ext cx="0" cy="109728"/>
          </a:xfrm>
          <a:prstGeom prst="line">
            <a:avLst/>
          </a:prstGeom>
          <a:noFill/>
          <a:ln w="12700">
            <a:solidFill>
              <a:srgbClr val="2D5282"/>
            </a:solidFill>
            <a:prstDash val="solid"/>
          </a:ln>
        </p:spPr>
        <p:txBody>
          <a:bodyPr/>
          <a:lstStyle/>
          <a:p>
            <a:endParaRPr lang="en-US"/>
          </a:p>
        </p:txBody>
      </p:sp>
      <p:sp>
        <p:nvSpPr>
          <p:cNvPr id="22" name="Shape 20"/>
          <p:cNvSpPr/>
          <p:nvPr/>
        </p:nvSpPr>
        <p:spPr>
          <a:xfrm>
            <a:off x="4663440" y="2075688"/>
            <a:ext cx="3931920" cy="502920"/>
          </a:xfrm>
          <a:prstGeom prst="rect">
            <a:avLst/>
          </a:prstGeom>
          <a:solidFill>
            <a:srgbClr val="1E3A5F"/>
          </a:solidFill>
          <a:ln w="12700">
            <a:solidFill>
              <a:srgbClr val="2D5282"/>
            </a:solidFill>
            <a:prstDash val="solid"/>
          </a:ln>
        </p:spPr>
        <p:txBody>
          <a:bodyPr/>
          <a:lstStyle/>
          <a:p>
            <a:endParaRPr lang="en-US"/>
          </a:p>
        </p:txBody>
      </p:sp>
      <p:sp>
        <p:nvSpPr>
          <p:cNvPr id="23" name="Text 21"/>
          <p:cNvSpPr/>
          <p:nvPr/>
        </p:nvSpPr>
        <p:spPr>
          <a:xfrm>
            <a:off x="4663440" y="2075688"/>
            <a:ext cx="320040" cy="502920"/>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2</a:t>
            </a:r>
            <a:endParaRPr lang="en-US" sz="1000" dirty="0"/>
          </a:p>
        </p:txBody>
      </p:sp>
      <p:sp>
        <p:nvSpPr>
          <p:cNvPr id="24" name="Text 22"/>
          <p:cNvSpPr/>
          <p:nvPr/>
        </p:nvSpPr>
        <p:spPr>
          <a:xfrm>
            <a:off x="5010912" y="2075688"/>
            <a:ext cx="347472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Agent calls extract_clauses() × 2</a:t>
            </a:r>
            <a:endParaRPr lang="en-US" sz="1000" dirty="0"/>
          </a:p>
        </p:txBody>
      </p:sp>
      <p:sp>
        <p:nvSpPr>
          <p:cNvPr id="25" name="Shape 23"/>
          <p:cNvSpPr/>
          <p:nvPr/>
        </p:nvSpPr>
        <p:spPr>
          <a:xfrm>
            <a:off x="4828032" y="2578608"/>
            <a:ext cx="0" cy="109728"/>
          </a:xfrm>
          <a:prstGeom prst="line">
            <a:avLst/>
          </a:prstGeom>
          <a:noFill/>
          <a:ln w="12700">
            <a:solidFill>
              <a:srgbClr val="2D5282"/>
            </a:solidFill>
            <a:prstDash val="solid"/>
          </a:ln>
        </p:spPr>
        <p:txBody>
          <a:bodyPr/>
          <a:lstStyle/>
          <a:p>
            <a:endParaRPr lang="en-US"/>
          </a:p>
        </p:txBody>
      </p:sp>
      <p:sp>
        <p:nvSpPr>
          <p:cNvPr id="26" name="Shape 24"/>
          <p:cNvSpPr/>
          <p:nvPr/>
        </p:nvSpPr>
        <p:spPr>
          <a:xfrm>
            <a:off x="4663440" y="2688336"/>
            <a:ext cx="3931920" cy="502920"/>
          </a:xfrm>
          <a:prstGeom prst="rect">
            <a:avLst/>
          </a:prstGeom>
          <a:solidFill>
            <a:srgbClr val="1E3A5F"/>
          </a:solidFill>
          <a:ln w="12700">
            <a:solidFill>
              <a:srgbClr val="2D5282"/>
            </a:solidFill>
            <a:prstDash val="solid"/>
          </a:ln>
        </p:spPr>
        <p:txBody>
          <a:bodyPr/>
          <a:lstStyle/>
          <a:p>
            <a:endParaRPr lang="en-US"/>
          </a:p>
        </p:txBody>
      </p:sp>
      <p:sp>
        <p:nvSpPr>
          <p:cNvPr id="27" name="Text 25"/>
          <p:cNvSpPr/>
          <p:nvPr/>
        </p:nvSpPr>
        <p:spPr>
          <a:xfrm>
            <a:off x="4663440" y="2688336"/>
            <a:ext cx="320040" cy="502920"/>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3</a:t>
            </a:r>
            <a:endParaRPr lang="en-US" sz="1000" dirty="0"/>
          </a:p>
        </p:txBody>
      </p:sp>
      <p:sp>
        <p:nvSpPr>
          <p:cNvPr id="28" name="Text 26"/>
          <p:cNvSpPr/>
          <p:nvPr/>
        </p:nvSpPr>
        <p:spPr>
          <a:xfrm>
            <a:off x="5010912" y="2688336"/>
            <a:ext cx="347472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Claude reasons over both contracts — identifies conflicts, assigns risk levels</a:t>
            </a:r>
            <a:endParaRPr lang="en-US" sz="1000" dirty="0"/>
          </a:p>
        </p:txBody>
      </p:sp>
      <p:sp>
        <p:nvSpPr>
          <p:cNvPr id="29" name="Shape 27"/>
          <p:cNvSpPr/>
          <p:nvPr/>
        </p:nvSpPr>
        <p:spPr>
          <a:xfrm>
            <a:off x="4828032" y="3191256"/>
            <a:ext cx="0" cy="109728"/>
          </a:xfrm>
          <a:prstGeom prst="line">
            <a:avLst/>
          </a:prstGeom>
          <a:noFill/>
          <a:ln w="12700">
            <a:solidFill>
              <a:srgbClr val="2D5282"/>
            </a:solidFill>
            <a:prstDash val="solid"/>
          </a:ln>
        </p:spPr>
        <p:txBody>
          <a:bodyPr/>
          <a:lstStyle/>
          <a:p>
            <a:endParaRPr lang="en-US"/>
          </a:p>
        </p:txBody>
      </p:sp>
      <p:sp>
        <p:nvSpPr>
          <p:cNvPr id="30" name="Shape 28"/>
          <p:cNvSpPr/>
          <p:nvPr/>
        </p:nvSpPr>
        <p:spPr>
          <a:xfrm>
            <a:off x="4663440" y="3300984"/>
            <a:ext cx="3931920" cy="502920"/>
          </a:xfrm>
          <a:prstGeom prst="rect">
            <a:avLst/>
          </a:prstGeom>
          <a:solidFill>
            <a:srgbClr val="1E3A5F"/>
          </a:solidFill>
          <a:ln w="12700">
            <a:solidFill>
              <a:srgbClr val="2D5282"/>
            </a:solidFill>
            <a:prstDash val="solid"/>
          </a:ln>
        </p:spPr>
        <p:txBody>
          <a:bodyPr/>
          <a:lstStyle/>
          <a:p>
            <a:endParaRPr lang="en-US"/>
          </a:p>
        </p:txBody>
      </p:sp>
      <p:sp>
        <p:nvSpPr>
          <p:cNvPr id="31" name="Text 29"/>
          <p:cNvSpPr/>
          <p:nvPr/>
        </p:nvSpPr>
        <p:spPr>
          <a:xfrm>
            <a:off x="4663440" y="3300984"/>
            <a:ext cx="320040" cy="502920"/>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4</a:t>
            </a:r>
            <a:endParaRPr lang="en-US" sz="1000" dirty="0"/>
          </a:p>
        </p:txBody>
      </p:sp>
      <p:sp>
        <p:nvSpPr>
          <p:cNvPr id="32" name="Text 30"/>
          <p:cNvSpPr/>
          <p:nvPr/>
        </p:nvSpPr>
        <p:spPr>
          <a:xfrm>
            <a:off x="5010912" y="3300984"/>
            <a:ext cx="347472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Agent calls generate_redline_brief()</a:t>
            </a:r>
            <a:endParaRPr lang="en-US" sz="1000" dirty="0"/>
          </a:p>
        </p:txBody>
      </p:sp>
      <p:sp>
        <p:nvSpPr>
          <p:cNvPr id="33" name="Shape 31"/>
          <p:cNvSpPr/>
          <p:nvPr/>
        </p:nvSpPr>
        <p:spPr>
          <a:xfrm>
            <a:off x="4828032" y="3803904"/>
            <a:ext cx="0" cy="109728"/>
          </a:xfrm>
          <a:prstGeom prst="line">
            <a:avLst/>
          </a:prstGeom>
          <a:noFill/>
          <a:ln w="12700">
            <a:solidFill>
              <a:srgbClr val="2D5282"/>
            </a:solidFill>
            <a:prstDash val="solid"/>
          </a:ln>
        </p:spPr>
        <p:txBody>
          <a:bodyPr/>
          <a:lstStyle/>
          <a:p>
            <a:endParaRPr lang="en-US"/>
          </a:p>
        </p:txBody>
      </p:sp>
      <p:sp>
        <p:nvSpPr>
          <p:cNvPr id="34" name="Shape 32"/>
          <p:cNvSpPr/>
          <p:nvPr/>
        </p:nvSpPr>
        <p:spPr>
          <a:xfrm>
            <a:off x="4663440" y="3913632"/>
            <a:ext cx="3931920" cy="502920"/>
          </a:xfrm>
          <a:prstGeom prst="rect">
            <a:avLst/>
          </a:prstGeom>
          <a:solidFill>
            <a:srgbClr val="7C3AED"/>
          </a:solidFill>
          <a:ln w="12700">
            <a:solidFill>
              <a:srgbClr val="7C3AED"/>
            </a:solidFill>
            <a:prstDash val="solid"/>
          </a:ln>
        </p:spPr>
        <p:txBody>
          <a:bodyPr/>
          <a:lstStyle/>
          <a:p>
            <a:endParaRPr lang="en-US"/>
          </a:p>
        </p:txBody>
      </p:sp>
      <p:sp>
        <p:nvSpPr>
          <p:cNvPr id="35" name="Text 33"/>
          <p:cNvSpPr/>
          <p:nvPr/>
        </p:nvSpPr>
        <p:spPr>
          <a:xfrm>
            <a:off x="4663440" y="3913632"/>
            <a:ext cx="3200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6" name="Text 34"/>
          <p:cNvSpPr/>
          <p:nvPr/>
        </p:nvSpPr>
        <p:spPr>
          <a:xfrm>
            <a:off x="5010912" y="3913632"/>
            <a:ext cx="347472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Final report rendered in UI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Why We BUILD — Not Bend</a:t>
            </a:r>
            <a:endParaRPr lang="en-US" sz="2200" dirty="0"/>
          </a:p>
        </p:txBody>
      </p:sp>
      <p:sp>
        <p:nvSpPr>
          <p:cNvPr id="4" name="Text 2"/>
          <p:cNvSpPr/>
          <p:nvPr/>
        </p:nvSpPr>
        <p:spPr>
          <a:xfrm>
            <a:off x="457200" y="914400"/>
            <a:ext cx="8229600" cy="32004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Professor's 6-Dimension Framework Applied</a:t>
            </a:r>
            <a:endParaRPr lang="en-US" sz="1200" dirty="0"/>
          </a:p>
        </p:txBody>
      </p:sp>
      <p:sp>
        <p:nvSpPr>
          <p:cNvPr id="5" name="Shape 3"/>
          <p:cNvSpPr/>
          <p:nvPr/>
        </p:nvSpPr>
        <p:spPr>
          <a:xfrm>
            <a:off x="365760" y="1371600"/>
            <a:ext cx="4251960" cy="868680"/>
          </a:xfrm>
          <a:prstGeom prst="rect">
            <a:avLst/>
          </a:prstGeom>
          <a:solidFill>
            <a:srgbClr val="EBF2FB"/>
          </a:solidFill>
          <a:ln w="9525">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365760" y="1371600"/>
            <a:ext cx="54864" cy="868680"/>
          </a:xfrm>
          <a:prstGeom prst="rect">
            <a:avLst/>
          </a:prstGeom>
          <a:solidFill>
            <a:srgbClr val="1E3A5F"/>
          </a:solidFill>
          <a:ln w="12700">
            <a:solidFill>
              <a:srgbClr val="1E3A5F"/>
            </a:solidFill>
            <a:prstDash val="solid"/>
          </a:ln>
        </p:spPr>
        <p:txBody>
          <a:bodyPr/>
          <a:lstStyle/>
          <a:p>
            <a:endParaRPr lang="en-US"/>
          </a:p>
        </p:txBody>
      </p:sp>
      <p:sp>
        <p:nvSpPr>
          <p:cNvPr id="7" name="Text 5"/>
          <p:cNvSpPr/>
          <p:nvPr/>
        </p:nvSpPr>
        <p:spPr>
          <a:xfrm>
            <a:off x="475488" y="1435608"/>
            <a:ext cx="1371600" cy="237744"/>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Control</a:t>
            </a:r>
            <a:endParaRPr lang="en-US" sz="1000" dirty="0"/>
          </a:p>
        </p:txBody>
      </p:sp>
      <p:sp>
        <p:nvSpPr>
          <p:cNvPr id="8" name="Shape 6"/>
          <p:cNvSpPr/>
          <p:nvPr/>
        </p:nvSpPr>
        <p:spPr>
          <a:xfrm>
            <a:off x="3383280" y="1453896"/>
            <a:ext cx="1097280" cy="219456"/>
          </a:xfrm>
          <a:prstGeom prst="rect">
            <a:avLst/>
          </a:prstGeom>
          <a:solidFill>
            <a:srgbClr val="1E3A5F"/>
          </a:solidFill>
          <a:ln w="12700">
            <a:solidFill>
              <a:srgbClr val="1E3A5F"/>
            </a:solidFill>
            <a:prstDash val="solid"/>
          </a:ln>
        </p:spPr>
        <p:txBody>
          <a:bodyPr/>
          <a:lstStyle/>
          <a:p>
            <a:endParaRPr lang="en-US"/>
          </a:p>
        </p:txBody>
      </p:sp>
      <p:sp>
        <p:nvSpPr>
          <p:cNvPr id="9" name="Text 7"/>
          <p:cNvSpPr/>
          <p:nvPr/>
        </p:nvSpPr>
        <p:spPr>
          <a:xfrm>
            <a:off x="3383280" y="1453896"/>
            <a:ext cx="10972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BUILD</a:t>
            </a:r>
            <a:endParaRPr lang="en-US" sz="800" dirty="0"/>
          </a:p>
        </p:txBody>
      </p:sp>
      <p:sp>
        <p:nvSpPr>
          <p:cNvPr id="10" name="Text 8"/>
          <p:cNvSpPr/>
          <p:nvPr/>
        </p:nvSpPr>
        <p:spPr>
          <a:xfrm>
            <a:off x="475488" y="1719072"/>
            <a:ext cx="4023360" cy="43891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Custom clause-matching logic — no platform handles domain-specific legal reasoning</a:t>
            </a:r>
            <a:endParaRPr lang="en-US" sz="900" dirty="0"/>
          </a:p>
        </p:txBody>
      </p:sp>
      <p:sp>
        <p:nvSpPr>
          <p:cNvPr id="11" name="Shape 9"/>
          <p:cNvSpPr/>
          <p:nvPr/>
        </p:nvSpPr>
        <p:spPr>
          <a:xfrm>
            <a:off x="4800600" y="1371600"/>
            <a:ext cx="4251960" cy="868680"/>
          </a:xfrm>
          <a:prstGeom prst="rect">
            <a:avLst/>
          </a:prstGeom>
          <a:solidFill>
            <a:srgbClr val="EBF2FB"/>
          </a:solidFill>
          <a:ln w="9525">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12" name="Shape 10"/>
          <p:cNvSpPr/>
          <p:nvPr/>
        </p:nvSpPr>
        <p:spPr>
          <a:xfrm>
            <a:off x="4800600" y="1371600"/>
            <a:ext cx="54864" cy="868680"/>
          </a:xfrm>
          <a:prstGeom prst="rect">
            <a:avLst/>
          </a:prstGeom>
          <a:solidFill>
            <a:srgbClr val="1E3A5F"/>
          </a:solidFill>
          <a:ln w="12700">
            <a:solidFill>
              <a:srgbClr val="1E3A5F"/>
            </a:solidFill>
            <a:prstDash val="solid"/>
          </a:ln>
        </p:spPr>
        <p:txBody>
          <a:bodyPr/>
          <a:lstStyle/>
          <a:p>
            <a:endParaRPr lang="en-US"/>
          </a:p>
        </p:txBody>
      </p:sp>
      <p:sp>
        <p:nvSpPr>
          <p:cNvPr id="13" name="Text 11"/>
          <p:cNvSpPr/>
          <p:nvPr/>
        </p:nvSpPr>
        <p:spPr>
          <a:xfrm>
            <a:off x="4910328" y="1435608"/>
            <a:ext cx="1371600" cy="237744"/>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Cost</a:t>
            </a:r>
            <a:endParaRPr lang="en-US" sz="1000" dirty="0"/>
          </a:p>
        </p:txBody>
      </p:sp>
      <p:sp>
        <p:nvSpPr>
          <p:cNvPr id="14" name="Shape 12"/>
          <p:cNvSpPr/>
          <p:nvPr/>
        </p:nvSpPr>
        <p:spPr>
          <a:xfrm>
            <a:off x="7818120" y="1453896"/>
            <a:ext cx="1097280" cy="219456"/>
          </a:xfrm>
          <a:prstGeom prst="rect">
            <a:avLst/>
          </a:prstGeom>
          <a:solidFill>
            <a:srgbClr val="1E3A5F"/>
          </a:solidFill>
          <a:ln w="12700">
            <a:solidFill>
              <a:srgbClr val="1E3A5F"/>
            </a:solidFill>
            <a:prstDash val="solid"/>
          </a:ln>
        </p:spPr>
        <p:txBody>
          <a:bodyPr/>
          <a:lstStyle/>
          <a:p>
            <a:endParaRPr lang="en-US"/>
          </a:p>
        </p:txBody>
      </p:sp>
      <p:sp>
        <p:nvSpPr>
          <p:cNvPr id="15" name="Text 13"/>
          <p:cNvSpPr/>
          <p:nvPr/>
        </p:nvSpPr>
        <p:spPr>
          <a:xfrm>
            <a:off x="7818120" y="1453896"/>
            <a:ext cx="10972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BUILD</a:t>
            </a:r>
            <a:endParaRPr lang="en-US" sz="800" dirty="0"/>
          </a:p>
        </p:txBody>
      </p:sp>
      <p:sp>
        <p:nvSpPr>
          <p:cNvPr id="16" name="Text 14"/>
          <p:cNvSpPr/>
          <p:nvPr/>
        </p:nvSpPr>
        <p:spPr>
          <a:xfrm>
            <a:off x="4910328" y="1719072"/>
            <a:ext cx="4023360" cy="43891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SDK ~$0.02/run vs. $500+/month for legal review platforms</a:t>
            </a:r>
            <a:endParaRPr lang="en-US" sz="900" dirty="0"/>
          </a:p>
        </p:txBody>
      </p:sp>
      <p:sp>
        <p:nvSpPr>
          <p:cNvPr id="17" name="Shape 15"/>
          <p:cNvSpPr/>
          <p:nvPr/>
        </p:nvSpPr>
        <p:spPr>
          <a:xfrm>
            <a:off x="365760" y="2377440"/>
            <a:ext cx="4251960" cy="868680"/>
          </a:xfrm>
          <a:prstGeom prst="rect">
            <a:avLst/>
          </a:prstGeom>
          <a:solidFill>
            <a:srgbClr val="EBF2FB"/>
          </a:solidFill>
          <a:ln w="9525">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18" name="Shape 16"/>
          <p:cNvSpPr/>
          <p:nvPr/>
        </p:nvSpPr>
        <p:spPr>
          <a:xfrm>
            <a:off x="365760" y="2377440"/>
            <a:ext cx="54864" cy="868680"/>
          </a:xfrm>
          <a:prstGeom prst="rect">
            <a:avLst/>
          </a:prstGeom>
          <a:solidFill>
            <a:srgbClr val="1E3A5F"/>
          </a:solidFill>
          <a:ln w="12700">
            <a:solidFill>
              <a:srgbClr val="1E3A5F"/>
            </a:solidFill>
            <a:prstDash val="solid"/>
          </a:ln>
        </p:spPr>
        <p:txBody>
          <a:bodyPr/>
          <a:lstStyle/>
          <a:p>
            <a:endParaRPr lang="en-US"/>
          </a:p>
        </p:txBody>
      </p:sp>
      <p:sp>
        <p:nvSpPr>
          <p:cNvPr id="19" name="Text 17"/>
          <p:cNvSpPr/>
          <p:nvPr/>
        </p:nvSpPr>
        <p:spPr>
          <a:xfrm>
            <a:off x="475488" y="2441448"/>
            <a:ext cx="1371600" cy="237744"/>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Time to Value</a:t>
            </a:r>
            <a:endParaRPr lang="en-US" sz="1000" dirty="0"/>
          </a:p>
        </p:txBody>
      </p:sp>
      <p:sp>
        <p:nvSpPr>
          <p:cNvPr id="20" name="Shape 18"/>
          <p:cNvSpPr/>
          <p:nvPr/>
        </p:nvSpPr>
        <p:spPr>
          <a:xfrm>
            <a:off x="3383280" y="2459736"/>
            <a:ext cx="1097280" cy="219456"/>
          </a:xfrm>
          <a:prstGeom prst="rect">
            <a:avLst/>
          </a:prstGeom>
          <a:solidFill>
            <a:srgbClr val="1E3A5F"/>
          </a:solidFill>
          <a:ln w="12700">
            <a:solidFill>
              <a:srgbClr val="1E3A5F"/>
            </a:solidFill>
            <a:prstDash val="solid"/>
          </a:ln>
        </p:spPr>
        <p:txBody>
          <a:bodyPr/>
          <a:lstStyle/>
          <a:p>
            <a:endParaRPr lang="en-US"/>
          </a:p>
        </p:txBody>
      </p:sp>
      <p:sp>
        <p:nvSpPr>
          <p:cNvPr id="21" name="Text 19"/>
          <p:cNvSpPr/>
          <p:nvPr/>
        </p:nvSpPr>
        <p:spPr>
          <a:xfrm>
            <a:off x="3383280" y="2459736"/>
            <a:ext cx="10972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BUILD</a:t>
            </a:r>
            <a:endParaRPr lang="en-US" sz="800" dirty="0"/>
          </a:p>
        </p:txBody>
      </p:sp>
      <p:sp>
        <p:nvSpPr>
          <p:cNvPr id="22" name="Text 20"/>
          <p:cNvSpPr/>
          <p:nvPr/>
        </p:nvSpPr>
        <p:spPr>
          <a:xfrm>
            <a:off x="475488" y="2724912"/>
            <a:ext cx="4023360" cy="43891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Demo-ready in one week. Single focused problem scope</a:t>
            </a:r>
            <a:endParaRPr lang="en-US" sz="900" dirty="0"/>
          </a:p>
        </p:txBody>
      </p:sp>
      <p:sp>
        <p:nvSpPr>
          <p:cNvPr id="23" name="Shape 21"/>
          <p:cNvSpPr/>
          <p:nvPr/>
        </p:nvSpPr>
        <p:spPr>
          <a:xfrm>
            <a:off x="4800600" y="2377440"/>
            <a:ext cx="4251960" cy="868680"/>
          </a:xfrm>
          <a:prstGeom prst="rect">
            <a:avLst/>
          </a:prstGeom>
          <a:solidFill>
            <a:srgbClr val="EBF2FB"/>
          </a:solidFill>
          <a:ln w="9525">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24" name="Shape 22"/>
          <p:cNvSpPr/>
          <p:nvPr/>
        </p:nvSpPr>
        <p:spPr>
          <a:xfrm>
            <a:off x="4800600" y="2377440"/>
            <a:ext cx="54864" cy="868680"/>
          </a:xfrm>
          <a:prstGeom prst="rect">
            <a:avLst/>
          </a:prstGeom>
          <a:solidFill>
            <a:srgbClr val="1E3A5F"/>
          </a:solidFill>
          <a:ln w="12700">
            <a:solidFill>
              <a:srgbClr val="1E3A5F"/>
            </a:solidFill>
            <a:prstDash val="solid"/>
          </a:ln>
        </p:spPr>
        <p:txBody>
          <a:bodyPr/>
          <a:lstStyle/>
          <a:p>
            <a:endParaRPr lang="en-US"/>
          </a:p>
        </p:txBody>
      </p:sp>
      <p:sp>
        <p:nvSpPr>
          <p:cNvPr id="25" name="Text 23"/>
          <p:cNvSpPr/>
          <p:nvPr/>
        </p:nvSpPr>
        <p:spPr>
          <a:xfrm>
            <a:off x="4910328" y="2441448"/>
            <a:ext cx="1371600" cy="237744"/>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Integration</a:t>
            </a:r>
            <a:endParaRPr lang="en-US" sz="1000" dirty="0"/>
          </a:p>
        </p:txBody>
      </p:sp>
      <p:sp>
        <p:nvSpPr>
          <p:cNvPr id="26" name="Shape 24"/>
          <p:cNvSpPr/>
          <p:nvPr/>
        </p:nvSpPr>
        <p:spPr>
          <a:xfrm>
            <a:off x="7818120" y="2459736"/>
            <a:ext cx="1097280" cy="219456"/>
          </a:xfrm>
          <a:prstGeom prst="rect">
            <a:avLst/>
          </a:prstGeom>
          <a:solidFill>
            <a:srgbClr val="1E3A5F"/>
          </a:solidFill>
          <a:ln w="12700">
            <a:solidFill>
              <a:srgbClr val="1E3A5F"/>
            </a:solidFill>
            <a:prstDash val="solid"/>
          </a:ln>
        </p:spPr>
        <p:txBody>
          <a:bodyPr/>
          <a:lstStyle/>
          <a:p>
            <a:endParaRPr lang="en-US"/>
          </a:p>
        </p:txBody>
      </p:sp>
      <p:sp>
        <p:nvSpPr>
          <p:cNvPr id="27" name="Text 25"/>
          <p:cNvSpPr/>
          <p:nvPr/>
        </p:nvSpPr>
        <p:spPr>
          <a:xfrm>
            <a:off x="7818120" y="2459736"/>
            <a:ext cx="10972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BUILD</a:t>
            </a:r>
            <a:endParaRPr lang="en-US" sz="800" dirty="0"/>
          </a:p>
        </p:txBody>
      </p:sp>
      <p:sp>
        <p:nvSpPr>
          <p:cNvPr id="28" name="Text 26"/>
          <p:cNvSpPr/>
          <p:nvPr/>
        </p:nvSpPr>
        <p:spPr>
          <a:xfrm>
            <a:off x="4910328" y="2724912"/>
            <a:ext cx="4023360" cy="43891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Proprietary PDF parsing + structured JSON output — non-standard data flow</a:t>
            </a:r>
            <a:endParaRPr lang="en-US" sz="900" dirty="0"/>
          </a:p>
        </p:txBody>
      </p:sp>
      <p:sp>
        <p:nvSpPr>
          <p:cNvPr id="29" name="Shape 27"/>
          <p:cNvSpPr/>
          <p:nvPr/>
        </p:nvSpPr>
        <p:spPr>
          <a:xfrm>
            <a:off x="365760" y="3383280"/>
            <a:ext cx="4251960" cy="868680"/>
          </a:xfrm>
          <a:prstGeom prst="rect">
            <a:avLst/>
          </a:prstGeom>
          <a:solidFill>
            <a:srgbClr val="F5F0FF"/>
          </a:solidFill>
          <a:ln w="9525">
            <a:solidFill>
              <a:srgbClr val="7C3AED"/>
            </a:solidFill>
            <a:prstDash val="solid"/>
          </a:ln>
          <a:effectLst>
            <a:outerShdw blurRad="101600" dist="25400" dir="8100000" algn="bl" rotWithShape="0">
              <a:srgbClr val="000000">
                <a:alpha val="8000"/>
              </a:srgbClr>
            </a:outerShdw>
          </a:effectLst>
        </p:spPr>
        <p:txBody>
          <a:bodyPr/>
          <a:lstStyle/>
          <a:p>
            <a:endParaRPr lang="en-US"/>
          </a:p>
        </p:txBody>
      </p:sp>
      <p:sp>
        <p:nvSpPr>
          <p:cNvPr id="30" name="Shape 28"/>
          <p:cNvSpPr/>
          <p:nvPr/>
        </p:nvSpPr>
        <p:spPr>
          <a:xfrm>
            <a:off x="365760" y="3383280"/>
            <a:ext cx="54864" cy="868680"/>
          </a:xfrm>
          <a:prstGeom prst="rect">
            <a:avLst/>
          </a:prstGeom>
          <a:solidFill>
            <a:srgbClr val="7C3AED"/>
          </a:solidFill>
          <a:ln w="12700">
            <a:solidFill>
              <a:srgbClr val="7C3AED"/>
            </a:solidFill>
            <a:prstDash val="solid"/>
          </a:ln>
        </p:spPr>
        <p:txBody>
          <a:bodyPr/>
          <a:lstStyle/>
          <a:p>
            <a:endParaRPr lang="en-US"/>
          </a:p>
        </p:txBody>
      </p:sp>
      <p:sp>
        <p:nvSpPr>
          <p:cNvPr id="31" name="Text 29"/>
          <p:cNvSpPr/>
          <p:nvPr/>
        </p:nvSpPr>
        <p:spPr>
          <a:xfrm>
            <a:off x="475488" y="3447288"/>
            <a:ext cx="1371600" cy="237744"/>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Maintenance</a:t>
            </a:r>
            <a:endParaRPr lang="en-US" sz="1000" dirty="0"/>
          </a:p>
        </p:txBody>
      </p:sp>
      <p:sp>
        <p:nvSpPr>
          <p:cNvPr id="32" name="Shape 30"/>
          <p:cNvSpPr/>
          <p:nvPr/>
        </p:nvSpPr>
        <p:spPr>
          <a:xfrm>
            <a:off x="3383280" y="3465576"/>
            <a:ext cx="1097280" cy="219456"/>
          </a:xfrm>
          <a:prstGeom prst="rect">
            <a:avLst/>
          </a:prstGeom>
          <a:solidFill>
            <a:srgbClr val="7C3AED"/>
          </a:solidFill>
          <a:ln w="12700">
            <a:solidFill>
              <a:srgbClr val="7C3AED"/>
            </a:solidFill>
            <a:prstDash val="solid"/>
          </a:ln>
        </p:spPr>
        <p:txBody>
          <a:bodyPr/>
          <a:lstStyle/>
          <a:p>
            <a:endParaRPr lang="en-US"/>
          </a:p>
        </p:txBody>
      </p:sp>
      <p:sp>
        <p:nvSpPr>
          <p:cNvPr id="33" name="Text 31"/>
          <p:cNvSpPr/>
          <p:nvPr/>
        </p:nvSpPr>
        <p:spPr>
          <a:xfrm>
            <a:off x="3383280" y="3465576"/>
            <a:ext cx="10972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HYBRID</a:t>
            </a:r>
            <a:endParaRPr lang="en-US" sz="800" dirty="0"/>
          </a:p>
        </p:txBody>
      </p:sp>
      <p:sp>
        <p:nvSpPr>
          <p:cNvPr id="34" name="Text 32"/>
          <p:cNvSpPr/>
          <p:nvPr/>
        </p:nvSpPr>
        <p:spPr>
          <a:xfrm>
            <a:off x="475488" y="3730752"/>
            <a:ext cx="4023360" cy="43891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Team owns the reasoning logic; infra stays lean</a:t>
            </a:r>
            <a:endParaRPr lang="en-US" sz="900" dirty="0"/>
          </a:p>
        </p:txBody>
      </p:sp>
      <p:sp>
        <p:nvSpPr>
          <p:cNvPr id="35" name="Shape 33"/>
          <p:cNvSpPr/>
          <p:nvPr/>
        </p:nvSpPr>
        <p:spPr>
          <a:xfrm>
            <a:off x="4800600" y="3383280"/>
            <a:ext cx="4251960" cy="868680"/>
          </a:xfrm>
          <a:prstGeom prst="rect">
            <a:avLst/>
          </a:prstGeom>
          <a:solidFill>
            <a:srgbClr val="EBF2FB"/>
          </a:solidFill>
          <a:ln w="9525">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36" name="Shape 34"/>
          <p:cNvSpPr/>
          <p:nvPr/>
        </p:nvSpPr>
        <p:spPr>
          <a:xfrm>
            <a:off x="4800600" y="3383280"/>
            <a:ext cx="54864" cy="868680"/>
          </a:xfrm>
          <a:prstGeom prst="rect">
            <a:avLst/>
          </a:prstGeom>
          <a:solidFill>
            <a:srgbClr val="1E3A5F"/>
          </a:solidFill>
          <a:ln w="12700">
            <a:solidFill>
              <a:srgbClr val="1E3A5F"/>
            </a:solidFill>
            <a:prstDash val="solid"/>
          </a:ln>
        </p:spPr>
        <p:txBody>
          <a:bodyPr/>
          <a:lstStyle/>
          <a:p>
            <a:endParaRPr lang="en-US"/>
          </a:p>
        </p:txBody>
      </p:sp>
      <p:sp>
        <p:nvSpPr>
          <p:cNvPr id="37" name="Text 35"/>
          <p:cNvSpPr/>
          <p:nvPr/>
        </p:nvSpPr>
        <p:spPr>
          <a:xfrm>
            <a:off x="4910328" y="3447288"/>
            <a:ext cx="1371600" cy="237744"/>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Differentiation</a:t>
            </a:r>
            <a:endParaRPr lang="en-US" sz="1000" dirty="0"/>
          </a:p>
        </p:txBody>
      </p:sp>
      <p:sp>
        <p:nvSpPr>
          <p:cNvPr id="38" name="Shape 36"/>
          <p:cNvSpPr/>
          <p:nvPr/>
        </p:nvSpPr>
        <p:spPr>
          <a:xfrm>
            <a:off x="7818120" y="3465576"/>
            <a:ext cx="1097280" cy="219456"/>
          </a:xfrm>
          <a:prstGeom prst="rect">
            <a:avLst/>
          </a:prstGeom>
          <a:solidFill>
            <a:srgbClr val="1E3A5F"/>
          </a:solidFill>
          <a:ln w="12700">
            <a:solidFill>
              <a:srgbClr val="1E3A5F"/>
            </a:solidFill>
            <a:prstDash val="solid"/>
          </a:ln>
        </p:spPr>
        <p:txBody>
          <a:bodyPr/>
          <a:lstStyle/>
          <a:p>
            <a:endParaRPr lang="en-US"/>
          </a:p>
        </p:txBody>
      </p:sp>
      <p:sp>
        <p:nvSpPr>
          <p:cNvPr id="39" name="Text 37"/>
          <p:cNvSpPr/>
          <p:nvPr/>
        </p:nvSpPr>
        <p:spPr>
          <a:xfrm>
            <a:off x="7818120" y="3465576"/>
            <a:ext cx="10972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BUILD</a:t>
            </a:r>
            <a:endParaRPr lang="en-US" sz="800" dirty="0"/>
          </a:p>
        </p:txBody>
      </p:sp>
      <p:sp>
        <p:nvSpPr>
          <p:cNvPr id="40" name="Text 38"/>
          <p:cNvSpPr/>
          <p:nvPr/>
        </p:nvSpPr>
        <p:spPr>
          <a:xfrm>
            <a:off x="4910328" y="3730752"/>
            <a:ext cx="4023360" cy="43891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Core competitive moat — contract intelligence is the product</a:t>
            </a:r>
            <a:endParaRPr lang="en-US" sz="900" dirty="0"/>
          </a:p>
        </p:txBody>
      </p:sp>
      <p:sp>
        <p:nvSpPr>
          <p:cNvPr id="41" name="Shape 39"/>
          <p:cNvSpPr/>
          <p:nvPr/>
        </p:nvSpPr>
        <p:spPr>
          <a:xfrm>
            <a:off x="365760" y="4434840"/>
            <a:ext cx="8412480" cy="402336"/>
          </a:xfrm>
          <a:prstGeom prst="rect">
            <a:avLst/>
          </a:prstGeom>
          <a:solidFill>
            <a:srgbClr val="1E3A5F"/>
          </a:solidFill>
          <a:ln w="12700">
            <a:solidFill>
              <a:srgbClr val="1E3A5F"/>
            </a:solidFill>
            <a:prstDash val="solid"/>
          </a:ln>
        </p:spPr>
        <p:txBody>
          <a:bodyPr/>
          <a:lstStyle/>
          <a:p>
            <a:endParaRPr lang="en-US"/>
          </a:p>
        </p:txBody>
      </p:sp>
      <p:sp>
        <p:nvSpPr>
          <p:cNvPr id="42" name="Text 40"/>
          <p:cNvSpPr/>
          <p:nvPr/>
        </p:nvSpPr>
        <p:spPr>
          <a:xfrm>
            <a:off x="457200" y="4434840"/>
            <a:ext cx="822960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Score: 5/6 BUILD → Full Claude SDK investment justified. Maximum control, maximum differentiation.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215590"/>
            <a:ext cx="9144000" cy="5143500"/>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0"/>
            <a:ext cx="9144000" cy="777240"/>
          </a:xfrm>
          <a:prstGeom prst="rect">
            <a:avLst/>
          </a:prstGeom>
          <a:solidFill>
            <a:srgbClr val="162D4A"/>
          </a:solidFill>
          <a:ln w="12700">
            <a:solidFill>
              <a:srgbClr val="162D4A"/>
            </a:solidFill>
            <a:prstDash val="solid"/>
          </a:ln>
        </p:spPr>
        <p:txBody>
          <a:bodyPr/>
          <a:lstStyle/>
          <a:p>
            <a:endParaRPr lang="en-US"/>
          </a:p>
        </p:txBody>
      </p:sp>
      <p:sp>
        <p:nvSpPr>
          <p:cNvPr id="4" name="Text 2"/>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Live Demo</a:t>
            </a:r>
            <a:endParaRPr lang="en-US" sz="2200" dirty="0"/>
          </a:p>
        </p:txBody>
      </p:sp>
      <p:sp>
        <p:nvSpPr>
          <p:cNvPr id="5" name="Shape 3"/>
          <p:cNvSpPr/>
          <p:nvPr/>
        </p:nvSpPr>
        <p:spPr>
          <a:xfrm>
            <a:off x="457200" y="960120"/>
            <a:ext cx="822960" cy="402336"/>
          </a:xfrm>
          <a:prstGeom prst="rect">
            <a:avLst/>
          </a:prstGeom>
          <a:solidFill>
            <a:srgbClr val="7C3AED"/>
          </a:solidFill>
          <a:ln w="12700">
            <a:solidFill>
              <a:srgbClr val="7C3AED"/>
            </a:solidFill>
            <a:prstDash val="solid"/>
          </a:ln>
        </p:spPr>
        <p:txBody>
          <a:bodyPr/>
          <a:lstStyle/>
          <a:p>
            <a:endParaRPr lang="en-US"/>
          </a:p>
        </p:txBody>
      </p:sp>
      <p:sp>
        <p:nvSpPr>
          <p:cNvPr id="6" name="Text 4"/>
          <p:cNvSpPr/>
          <p:nvPr/>
        </p:nvSpPr>
        <p:spPr>
          <a:xfrm>
            <a:off x="457200" y="960120"/>
            <a:ext cx="8229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0:00</a:t>
            </a:r>
            <a:endParaRPr lang="en-US" sz="1000" dirty="0"/>
          </a:p>
        </p:txBody>
      </p:sp>
      <p:sp>
        <p:nvSpPr>
          <p:cNvPr id="7" name="Shape 5"/>
          <p:cNvSpPr/>
          <p:nvPr/>
        </p:nvSpPr>
        <p:spPr>
          <a:xfrm>
            <a:off x="1417320" y="960120"/>
            <a:ext cx="7406640" cy="402336"/>
          </a:xfrm>
          <a:prstGeom prst="rect">
            <a:avLst/>
          </a:prstGeom>
          <a:solidFill>
            <a:srgbClr val="162D4A"/>
          </a:solidFill>
          <a:ln w="12700">
            <a:solidFill>
              <a:srgbClr val="243F60"/>
            </a:solidFill>
            <a:prstDash val="solid"/>
          </a:ln>
        </p:spPr>
        <p:txBody>
          <a:bodyPr/>
          <a:lstStyle/>
          <a:p>
            <a:endParaRPr lang="en-US"/>
          </a:p>
        </p:txBody>
      </p:sp>
      <p:sp>
        <p:nvSpPr>
          <p:cNvPr id="8" name="Text 6"/>
          <p:cNvSpPr/>
          <p:nvPr/>
        </p:nvSpPr>
        <p:spPr>
          <a:xfrm>
            <a:off x="1554480" y="960120"/>
            <a:ext cx="7132320" cy="402336"/>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Open browser → localhost:3000</a:t>
            </a:r>
            <a:endParaRPr lang="en-US" sz="1100" dirty="0"/>
          </a:p>
        </p:txBody>
      </p:sp>
      <p:sp>
        <p:nvSpPr>
          <p:cNvPr id="9" name="Shape 7"/>
          <p:cNvSpPr/>
          <p:nvPr/>
        </p:nvSpPr>
        <p:spPr>
          <a:xfrm>
            <a:off x="457200" y="1481328"/>
            <a:ext cx="822960" cy="402336"/>
          </a:xfrm>
          <a:prstGeom prst="rect">
            <a:avLst/>
          </a:prstGeom>
          <a:solidFill>
            <a:srgbClr val="7C3AED"/>
          </a:solidFill>
          <a:ln w="12700">
            <a:solidFill>
              <a:srgbClr val="7C3AED"/>
            </a:solidFill>
            <a:prstDash val="solid"/>
          </a:ln>
        </p:spPr>
        <p:txBody>
          <a:bodyPr/>
          <a:lstStyle/>
          <a:p>
            <a:endParaRPr lang="en-US"/>
          </a:p>
        </p:txBody>
      </p:sp>
      <p:sp>
        <p:nvSpPr>
          <p:cNvPr id="10" name="Text 8"/>
          <p:cNvSpPr/>
          <p:nvPr/>
        </p:nvSpPr>
        <p:spPr>
          <a:xfrm>
            <a:off x="457200" y="1481328"/>
            <a:ext cx="8229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1:00</a:t>
            </a:r>
            <a:endParaRPr lang="en-US" sz="1000" dirty="0"/>
          </a:p>
        </p:txBody>
      </p:sp>
      <p:sp>
        <p:nvSpPr>
          <p:cNvPr id="11" name="Shape 9"/>
          <p:cNvSpPr/>
          <p:nvPr/>
        </p:nvSpPr>
        <p:spPr>
          <a:xfrm>
            <a:off x="1417320" y="1481328"/>
            <a:ext cx="7406640" cy="402336"/>
          </a:xfrm>
          <a:prstGeom prst="rect">
            <a:avLst/>
          </a:prstGeom>
          <a:solidFill>
            <a:srgbClr val="162D4A"/>
          </a:solidFill>
          <a:ln w="12700">
            <a:solidFill>
              <a:srgbClr val="243F60"/>
            </a:solidFill>
            <a:prstDash val="solid"/>
          </a:ln>
        </p:spPr>
        <p:txBody>
          <a:bodyPr/>
          <a:lstStyle/>
          <a:p>
            <a:endParaRPr lang="en-US"/>
          </a:p>
        </p:txBody>
      </p:sp>
      <p:sp>
        <p:nvSpPr>
          <p:cNvPr id="12" name="Text 10"/>
          <p:cNvSpPr/>
          <p:nvPr/>
        </p:nvSpPr>
        <p:spPr>
          <a:xfrm>
            <a:off x="1554480" y="1481328"/>
            <a:ext cx="7132320" cy="402336"/>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Upload company_standard_terms.pdf  +  vendor_proposed_terms.pdf</a:t>
            </a:r>
            <a:endParaRPr lang="en-US" sz="1100" dirty="0"/>
          </a:p>
        </p:txBody>
      </p:sp>
      <p:sp>
        <p:nvSpPr>
          <p:cNvPr id="13" name="Shape 11"/>
          <p:cNvSpPr/>
          <p:nvPr/>
        </p:nvSpPr>
        <p:spPr>
          <a:xfrm>
            <a:off x="457200" y="2002536"/>
            <a:ext cx="822960" cy="402336"/>
          </a:xfrm>
          <a:prstGeom prst="rect">
            <a:avLst/>
          </a:prstGeom>
          <a:solidFill>
            <a:srgbClr val="7C3AED"/>
          </a:solidFill>
          <a:ln w="12700">
            <a:solidFill>
              <a:srgbClr val="7C3AED"/>
            </a:solidFill>
            <a:prstDash val="solid"/>
          </a:ln>
        </p:spPr>
        <p:txBody>
          <a:bodyPr/>
          <a:lstStyle/>
          <a:p>
            <a:endParaRPr lang="en-US"/>
          </a:p>
        </p:txBody>
      </p:sp>
      <p:sp>
        <p:nvSpPr>
          <p:cNvPr id="14" name="Text 12"/>
          <p:cNvSpPr/>
          <p:nvPr/>
        </p:nvSpPr>
        <p:spPr>
          <a:xfrm>
            <a:off x="457200" y="2002536"/>
            <a:ext cx="8229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2:00</a:t>
            </a:r>
            <a:endParaRPr lang="en-US" sz="1000" dirty="0"/>
          </a:p>
        </p:txBody>
      </p:sp>
      <p:sp>
        <p:nvSpPr>
          <p:cNvPr id="15" name="Shape 13"/>
          <p:cNvSpPr/>
          <p:nvPr/>
        </p:nvSpPr>
        <p:spPr>
          <a:xfrm>
            <a:off x="1417320" y="2002536"/>
            <a:ext cx="7406640" cy="402336"/>
          </a:xfrm>
          <a:prstGeom prst="rect">
            <a:avLst/>
          </a:prstGeom>
          <a:solidFill>
            <a:srgbClr val="162D4A"/>
          </a:solidFill>
          <a:ln w="12700">
            <a:solidFill>
              <a:srgbClr val="243F60"/>
            </a:solidFill>
            <a:prstDash val="solid"/>
          </a:ln>
        </p:spPr>
        <p:txBody>
          <a:bodyPr/>
          <a:lstStyle/>
          <a:p>
            <a:endParaRPr lang="en-US"/>
          </a:p>
        </p:txBody>
      </p:sp>
      <p:sp>
        <p:nvSpPr>
          <p:cNvPr id="16" name="Text 14"/>
          <p:cNvSpPr/>
          <p:nvPr/>
        </p:nvSpPr>
        <p:spPr>
          <a:xfrm>
            <a:off x="1554480" y="2002536"/>
            <a:ext cx="7132320" cy="402336"/>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Click Analyze Contracts → tool calls firing in terminal</a:t>
            </a:r>
            <a:endParaRPr lang="en-US" sz="1100" dirty="0"/>
          </a:p>
        </p:txBody>
      </p:sp>
      <p:sp>
        <p:nvSpPr>
          <p:cNvPr id="17" name="Shape 15"/>
          <p:cNvSpPr/>
          <p:nvPr/>
        </p:nvSpPr>
        <p:spPr>
          <a:xfrm>
            <a:off x="457200" y="2523744"/>
            <a:ext cx="822960" cy="402336"/>
          </a:xfrm>
          <a:prstGeom prst="rect">
            <a:avLst/>
          </a:prstGeom>
          <a:solidFill>
            <a:srgbClr val="7C3AED"/>
          </a:solidFill>
          <a:ln w="12700">
            <a:solidFill>
              <a:srgbClr val="7C3AED"/>
            </a:solidFill>
            <a:prstDash val="solid"/>
          </a:ln>
        </p:spPr>
        <p:txBody>
          <a:bodyPr/>
          <a:lstStyle/>
          <a:p>
            <a:endParaRPr lang="en-US"/>
          </a:p>
        </p:txBody>
      </p:sp>
      <p:sp>
        <p:nvSpPr>
          <p:cNvPr id="18" name="Text 16"/>
          <p:cNvSpPr/>
          <p:nvPr/>
        </p:nvSpPr>
        <p:spPr>
          <a:xfrm>
            <a:off x="457200" y="2523744"/>
            <a:ext cx="8229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4:30</a:t>
            </a:r>
            <a:endParaRPr lang="en-US" sz="1000" dirty="0"/>
          </a:p>
        </p:txBody>
      </p:sp>
      <p:sp>
        <p:nvSpPr>
          <p:cNvPr id="19" name="Shape 17"/>
          <p:cNvSpPr/>
          <p:nvPr/>
        </p:nvSpPr>
        <p:spPr>
          <a:xfrm>
            <a:off x="1417320" y="2523744"/>
            <a:ext cx="7406640" cy="402336"/>
          </a:xfrm>
          <a:prstGeom prst="rect">
            <a:avLst/>
          </a:prstGeom>
          <a:solidFill>
            <a:srgbClr val="162D4A"/>
          </a:solidFill>
          <a:ln w="12700">
            <a:solidFill>
              <a:srgbClr val="243F60"/>
            </a:solidFill>
            <a:prstDash val="solid"/>
          </a:ln>
        </p:spPr>
        <p:txBody>
          <a:bodyPr/>
          <a:lstStyle/>
          <a:p>
            <a:endParaRPr lang="en-US"/>
          </a:p>
        </p:txBody>
      </p:sp>
      <p:sp>
        <p:nvSpPr>
          <p:cNvPr id="20" name="Text 18"/>
          <p:cNvSpPr/>
          <p:nvPr/>
        </p:nvSpPr>
        <p:spPr>
          <a:xfrm>
            <a:off x="1554480" y="2523744"/>
            <a:ext cx="7132320" cy="402336"/>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Walk through redline output — point to CRITICAL: Liability Cap conflict</a:t>
            </a:r>
            <a:endParaRPr lang="en-US" sz="1100" dirty="0"/>
          </a:p>
        </p:txBody>
      </p:sp>
      <p:sp>
        <p:nvSpPr>
          <p:cNvPr id="21" name="Shape 19"/>
          <p:cNvSpPr/>
          <p:nvPr/>
        </p:nvSpPr>
        <p:spPr>
          <a:xfrm>
            <a:off x="457200" y="3044952"/>
            <a:ext cx="822960" cy="402336"/>
          </a:xfrm>
          <a:prstGeom prst="rect">
            <a:avLst/>
          </a:prstGeom>
          <a:solidFill>
            <a:srgbClr val="7C3AED"/>
          </a:solidFill>
          <a:ln w="12700">
            <a:solidFill>
              <a:srgbClr val="7C3AED"/>
            </a:solidFill>
            <a:prstDash val="solid"/>
          </a:ln>
        </p:spPr>
        <p:txBody>
          <a:bodyPr/>
          <a:lstStyle/>
          <a:p>
            <a:endParaRPr lang="en-US"/>
          </a:p>
        </p:txBody>
      </p:sp>
      <p:sp>
        <p:nvSpPr>
          <p:cNvPr id="22" name="Text 20"/>
          <p:cNvSpPr/>
          <p:nvPr/>
        </p:nvSpPr>
        <p:spPr>
          <a:xfrm>
            <a:off x="457200" y="3044952"/>
            <a:ext cx="8229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6:30</a:t>
            </a:r>
            <a:endParaRPr lang="en-US" sz="1000" dirty="0"/>
          </a:p>
        </p:txBody>
      </p:sp>
      <p:sp>
        <p:nvSpPr>
          <p:cNvPr id="23" name="Shape 21"/>
          <p:cNvSpPr/>
          <p:nvPr/>
        </p:nvSpPr>
        <p:spPr>
          <a:xfrm>
            <a:off x="1417320" y="3044952"/>
            <a:ext cx="7406640" cy="402336"/>
          </a:xfrm>
          <a:prstGeom prst="rect">
            <a:avLst/>
          </a:prstGeom>
          <a:solidFill>
            <a:srgbClr val="162D4A"/>
          </a:solidFill>
          <a:ln w="12700">
            <a:solidFill>
              <a:srgbClr val="243F60"/>
            </a:solidFill>
            <a:prstDash val="solid"/>
          </a:ln>
        </p:spPr>
        <p:txBody>
          <a:bodyPr/>
          <a:lstStyle/>
          <a:p>
            <a:endParaRPr lang="en-US"/>
          </a:p>
        </p:txBody>
      </p:sp>
      <p:sp>
        <p:nvSpPr>
          <p:cNvPr id="24" name="Text 22"/>
          <p:cNvSpPr/>
          <p:nvPr/>
        </p:nvSpPr>
        <p:spPr>
          <a:xfrm>
            <a:off x="1554480" y="3044952"/>
            <a:ext cx="7132320" cy="402336"/>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Read the resolution language Claude generated for that conflict</a:t>
            </a:r>
            <a:endParaRPr lang="en-US" sz="1100" dirty="0"/>
          </a:p>
        </p:txBody>
      </p:sp>
      <p:sp>
        <p:nvSpPr>
          <p:cNvPr id="25" name="Shape 23"/>
          <p:cNvSpPr/>
          <p:nvPr/>
        </p:nvSpPr>
        <p:spPr>
          <a:xfrm>
            <a:off x="457200" y="3566160"/>
            <a:ext cx="822960" cy="402336"/>
          </a:xfrm>
          <a:prstGeom prst="rect">
            <a:avLst/>
          </a:prstGeom>
          <a:solidFill>
            <a:srgbClr val="7C3AED"/>
          </a:solidFill>
          <a:ln w="12700">
            <a:solidFill>
              <a:srgbClr val="7C3AED"/>
            </a:solidFill>
            <a:prstDash val="solid"/>
          </a:ln>
        </p:spPr>
        <p:txBody>
          <a:bodyPr/>
          <a:lstStyle/>
          <a:p>
            <a:endParaRPr lang="en-US"/>
          </a:p>
        </p:txBody>
      </p:sp>
      <p:sp>
        <p:nvSpPr>
          <p:cNvPr id="26" name="Text 24"/>
          <p:cNvSpPr/>
          <p:nvPr/>
        </p:nvSpPr>
        <p:spPr>
          <a:xfrm>
            <a:off x="457200" y="3566160"/>
            <a:ext cx="8229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8:00</a:t>
            </a:r>
            <a:endParaRPr lang="en-US" sz="1000" dirty="0"/>
          </a:p>
        </p:txBody>
      </p:sp>
      <p:sp>
        <p:nvSpPr>
          <p:cNvPr id="27" name="Shape 25"/>
          <p:cNvSpPr/>
          <p:nvPr/>
        </p:nvSpPr>
        <p:spPr>
          <a:xfrm>
            <a:off x="1417320" y="3566160"/>
            <a:ext cx="7406640" cy="402336"/>
          </a:xfrm>
          <a:prstGeom prst="rect">
            <a:avLst/>
          </a:prstGeom>
          <a:solidFill>
            <a:srgbClr val="162D4A"/>
          </a:solidFill>
          <a:ln w="12700">
            <a:solidFill>
              <a:srgbClr val="243F60"/>
            </a:solidFill>
            <a:prstDash val="solid"/>
          </a:ln>
        </p:spPr>
        <p:txBody>
          <a:bodyPr/>
          <a:lstStyle/>
          <a:p>
            <a:endParaRPr lang="en-US"/>
          </a:p>
        </p:txBody>
      </p:sp>
      <p:sp>
        <p:nvSpPr>
          <p:cNvPr id="28" name="Text 26"/>
          <p:cNvSpPr/>
          <p:nvPr/>
        </p:nvSpPr>
        <p:spPr>
          <a:xfrm>
            <a:off x="1554480" y="3566160"/>
            <a:ext cx="7132320" cy="402336"/>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Show the full conflict table</a:t>
            </a:r>
            <a:endParaRPr lang="en-US" sz="1100" dirty="0"/>
          </a:p>
        </p:txBody>
      </p:sp>
      <p:sp>
        <p:nvSpPr>
          <p:cNvPr id="29" name="Shape 27"/>
          <p:cNvSpPr/>
          <p:nvPr/>
        </p:nvSpPr>
        <p:spPr>
          <a:xfrm>
            <a:off x="457200" y="4087368"/>
            <a:ext cx="822960" cy="402336"/>
          </a:xfrm>
          <a:prstGeom prst="rect">
            <a:avLst/>
          </a:prstGeom>
          <a:solidFill>
            <a:srgbClr val="7C3AED"/>
          </a:solidFill>
          <a:ln w="12700">
            <a:solidFill>
              <a:srgbClr val="7C3AED"/>
            </a:solidFill>
            <a:prstDash val="solid"/>
          </a:ln>
        </p:spPr>
        <p:txBody>
          <a:bodyPr/>
          <a:lstStyle/>
          <a:p>
            <a:endParaRPr lang="en-US"/>
          </a:p>
        </p:txBody>
      </p:sp>
      <p:sp>
        <p:nvSpPr>
          <p:cNvPr id="30" name="Text 28"/>
          <p:cNvSpPr/>
          <p:nvPr/>
        </p:nvSpPr>
        <p:spPr>
          <a:xfrm>
            <a:off x="457200" y="4087368"/>
            <a:ext cx="8229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9:00</a:t>
            </a:r>
            <a:endParaRPr lang="en-US" sz="1000" dirty="0"/>
          </a:p>
        </p:txBody>
      </p:sp>
      <p:sp>
        <p:nvSpPr>
          <p:cNvPr id="31" name="Shape 29"/>
          <p:cNvSpPr/>
          <p:nvPr/>
        </p:nvSpPr>
        <p:spPr>
          <a:xfrm>
            <a:off x="1417320" y="4087368"/>
            <a:ext cx="7406640" cy="402336"/>
          </a:xfrm>
          <a:prstGeom prst="rect">
            <a:avLst/>
          </a:prstGeom>
          <a:solidFill>
            <a:srgbClr val="162D4A"/>
          </a:solidFill>
          <a:ln w="12700">
            <a:solidFill>
              <a:srgbClr val="243F60"/>
            </a:solidFill>
            <a:prstDash val="solid"/>
          </a:ln>
        </p:spPr>
        <p:txBody>
          <a:bodyPr/>
          <a:lstStyle/>
          <a:p>
            <a:endParaRPr lang="en-US"/>
          </a:p>
        </p:txBody>
      </p:sp>
      <p:sp>
        <p:nvSpPr>
          <p:cNvPr id="32" name="Text 30"/>
          <p:cNvSpPr/>
          <p:nvPr/>
        </p:nvSpPr>
        <p:spPr>
          <a:xfrm>
            <a:off x="1554480" y="4087368"/>
            <a:ext cx="7132320" cy="402336"/>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Click ↓ PDF — show the formatted redline brief downloading instantly</a:t>
            </a:r>
            <a:endParaRPr lang="en-US" sz="1100" dirty="0"/>
          </a:p>
        </p:txBody>
      </p:sp>
      <p:sp>
        <p:nvSpPr>
          <p:cNvPr id="33" name="Text 31"/>
          <p:cNvSpPr/>
          <p:nvPr/>
        </p:nvSpPr>
        <p:spPr>
          <a:xfrm>
            <a:off x="457200" y="4681728"/>
            <a:ext cx="8229600" cy="320040"/>
          </a:xfrm>
          <a:prstGeom prst="rect">
            <a:avLst/>
          </a:prstGeom>
          <a:noFill/>
          <a:ln/>
        </p:spPr>
        <p:txBody>
          <a:bodyPr wrap="square" lIns="0" tIns="0" rIns="0" bIns="0" rtlCol="0" anchor="ctr"/>
          <a:lstStyle/>
          <a:p>
            <a:pPr marL="0" indent="0" algn="ctr">
              <a:buNone/>
            </a:pP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0"/>
            <a:ext cx="109728" cy="514350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365760" y="1005840"/>
            <a:ext cx="5029200" cy="1005840"/>
          </a:xfrm>
          <a:prstGeom prst="rect">
            <a:avLst/>
          </a:prstGeom>
          <a:noFill/>
          <a:ln/>
        </p:spPr>
        <p:txBody>
          <a:bodyPr wrap="square" lIns="0" tIns="0" rIns="0" bIns="0" rtlCol="0" anchor="ctr"/>
          <a:lstStyle/>
          <a:p>
            <a:pPr marL="0" indent="0" algn="l">
              <a:buNone/>
            </a:pPr>
            <a:r>
              <a:rPr lang="en-US" sz="4200" b="1" dirty="0">
                <a:solidFill>
                  <a:srgbClr val="FFFFFF"/>
                </a:solidFill>
                <a:latin typeface="Georgia" pitchFamily="34" charset="0"/>
                <a:ea typeface="Georgia" pitchFamily="34" charset="-122"/>
                <a:cs typeface="Georgia" pitchFamily="34" charset="-120"/>
              </a:rPr>
              <a:t>The Agentic Loop</a:t>
            </a:r>
            <a:endParaRPr lang="en-US" sz="4200" dirty="0"/>
          </a:p>
        </p:txBody>
      </p:sp>
      <p:sp>
        <p:nvSpPr>
          <p:cNvPr id="5" name="Text 3"/>
          <p:cNvSpPr/>
          <p:nvPr/>
        </p:nvSpPr>
        <p:spPr>
          <a:xfrm>
            <a:off x="365760" y="2057400"/>
            <a:ext cx="5029200" cy="411480"/>
          </a:xfrm>
          <a:prstGeom prst="rect">
            <a:avLst/>
          </a:prstGeom>
          <a:noFill/>
          <a:ln/>
        </p:spPr>
        <p:txBody>
          <a:bodyPr wrap="square" lIns="0" tIns="0" rIns="0" bIns="0" rtlCol="0" anchor="ctr"/>
          <a:lstStyle/>
          <a:p>
            <a:pPr marL="0" indent="0" algn="l">
              <a:buNone/>
            </a:pPr>
            <a:r>
              <a:rPr lang="en-US" sz="1600" i="1" dirty="0">
                <a:solidFill>
                  <a:srgbClr val="CADCFC"/>
                </a:solidFill>
                <a:latin typeface="Calibri Light" pitchFamily="34" charset="0"/>
                <a:ea typeface="Calibri Light" pitchFamily="34" charset="-122"/>
                <a:cs typeface="Calibri Light" pitchFamily="34" charset="-120"/>
              </a:rPr>
              <a:t>How ClauseGuard talks to Claude</a:t>
            </a:r>
            <a:endParaRPr lang="en-US" sz="1600" dirty="0"/>
          </a:p>
        </p:txBody>
      </p:sp>
      <p:sp>
        <p:nvSpPr>
          <p:cNvPr id="6" name="Shape 4"/>
          <p:cNvSpPr/>
          <p:nvPr/>
        </p:nvSpPr>
        <p:spPr>
          <a:xfrm>
            <a:off x="365760" y="2606040"/>
            <a:ext cx="4114800" cy="22860"/>
          </a:xfrm>
          <a:prstGeom prst="rect">
            <a:avLst/>
          </a:prstGeom>
          <a:solidFill>
            <a:srgbClr val="7C3AED">
              <a:alpha val="60000"/>
            </a:srgbClr>
          </a:solidFill>
          <a:ln w="12700">
            <a:solidFill>
              <a:srgbClr val="7C3AED">
                <a:alpha val="60000"/>
              </a:srgbClr>
            </a:solidFill>
            <a:prstDash val="solid"/>
          </a:ln>
        </p:spPr>
        <p:txBody>
          <a:bodyPr/>
          <a:lstStyle/>
          <a:p>
            <a:endParaRPr lang="en-US"/>
          </a:p>
        </p:txBody>
      </p:sp>
      <p:sp>
        <p:nvSpPr>
          <p:cNvPr id="7" name="Text 5"/>
          <p:cNvSpPr/>
          <p:nvPr/>
        </p:nvSpPr>
        <p:spPr>
          <a:xfrm>
            <a:off x="365760" y="2788920"/>
            <a:ext cx="5029200" cy="640080"/>
          </a:xfrm>
          <a:prstGeom prst="rect">
            <a:avLst/>
          </a:prstGeom>
          <a:noFill/>
          <a:ln/>
        </p:spPr>
        <p:txBody>
          <a:bodyPr wrap="square" lIns="0" tIns="0" rIns="0" bIns="0" rtlCol="0" anchor="ctr"/>
          <a:lstStyle/>
          <a:p>
            <a:pPr marL="0" indent="0" algn="l">
              <a:buNone/>
            </a:pPr>
            <a:r>
              <a:rPr lang="en-US" sz="1200" dirty="0">
                <a:solidFill>
                  <a:srgbClr val="94B8D4"/>
                </a:solidFill>
                <a:latin typeface="Calibri" pitchFamily="34" charset="0"/>
                <a:ea typeface="Calibri" pitchFamily="34" charset="-122"/>
                <a:cs typeface="Calibri" pitchFamily="34" charset="-120"/>
              </a:rPr>
              <a:t>A step-by-step walkthrough of the agentic loop —</a:t>
            </a:r>
            <a:endParaRPr lang="en-US" sz="1200" dirty="0"/>
          </a:p>
          <a:p>
            <a:pPr marL="0" indent="0" algn="l">
              <a:buNone/>
            </a:pPr>
            <a:r>
              <a:rPr lang="en-US" sz="1200" dirty="0">
                <a:solidFill>
                  <a:srgbClr val="94B8D4"/>
                </a:solidFill>
                <a:latin typeface="Calibri" pitchFamily="34" charset="0"/>
                <a:ea typeface="Calibri" pitchFamily="34" charset="-122"/>
                <a:cs typeface="Calibri" pitchFamily="34" charset="-120"/>
              </a:rPr>
              <a:t>from file upload to final report.</a:t>
            </a:r>
            <a:endParaRPr lang="en-US" sz="1200" dirty="0"/>
          </a:p>
        </p:txBody>
      </p:sp>
      <p:sp>
        <p:nvSpPr>
          <p:cNvPr id="8" name="Text 6"/>
          <p:cNvSpPr/>
          <p:nvPr/>
        </p:nvSpPr>
        <p:spPr>
          <a:xfrm>
            <a:off x="365760" y="4114800"/>
            <a:ext cx="5029200" cy="640080"/>
          </a:xfrm>
          <a:prstGeom prst="rect">
            <a:avLst/>
          </a:prstGeom>
          <a:noFill/>
          <a:ln/>
        </p:spPr>
        <p:txBody>
          <a:bodyPr wrap="square" lIns="0" tIns="0" rIns="0" bIns="0" rtlCol="0" anchor="ctr"/>
          <a:lstStyle/>
          <a:p>
            <a:pPr marL="0" indent="0" algn="l">
              <a:buNone/>
            </a:pPr>
            <a:r>
              <a:rPr lang="en-US" sz="1000">
                <a:solidFill>
                  <a:srgbClr val="7A9BBF"/>
                </a:solidFill>
                <a:latin typeface="Calibri" pitchFamily="34" charset="0"/>
                <a:ea typeface="Calibri" pitchFamily="34" charset="-122"/>
                <a:cs typeface="Calibri" pitchFamily="34" charset="-120"/>
              </a:rPr>
              <a:t>Agentic </a:t>
            </a:r>
            <a:r>
              <a:rPr lang="en-US" sz="1000" dirty="0">
                <a:solidFill>
                  <a:srgbClr val="7A9BBF"/>
                </a:solidFill>
                <a:latin typeface="Calibri" pitchFamily="34" charset="0"/>
                <a:ea typeface="Calibri" pitchFamily="34" charset="-122"/>
                <a:cs typeface="Calibri" pitchFamily="34" charset="-120"/>
              </a:rPr>
              <a:t>AI &amp; Process Automation</a:t>
            </a:r>
            <a:endParaRPr lang="en-US" sz="1000" dirty="0"/>
          </a:p>
          <a:p>
            <a:pPr marL="0" indent="0" algn="l">
              <a:buNone/>
            </a:pPr>
            <a:r>
              <a:rPr lang="en-US" sz="1000" dirty="0">
                <a:solidFill>
                  <a:srgbClr val="7A9BBF"/>
                </a:solidFill>
                <a:latin typeface="Calibri" pitchFamily="34" charset="0"/>
                <a:ea typeface="Calibri" pitchFamily="34" charset="-122"/>
                <a:cs typeface="Calibri" pitchFamily="34" charset="-120"/>
              </a:rPr>
              <a:t>BUAN 6v99.s01  ·  UT Dallas  ·  April 2026</a:t>
            </a:r>
            <a:endParaRPr lang="en-US" sz="1000" dirty="0"/>
          </a:p>
        </p:txBody>
      </p:sp>
      <p:sp>
        <p:nvSpPr>
          <p:cNvPr id="9" name="Shape 7"/>
          <p:cNvSpPr/>
          <p:nvPr/>
        </p:nvSpPr>
        <p:spPr>
          <a:xfrm>
            <a:off x="5852160" y="1097280"/>
            <a:ext cx="2926080" cy="2834640"/>
          </a:xfrm>
          <a:prstGeom prst="rect">
            <a:avLst/>
          </a:prstGeom>
          <a:solidFill>
            <a:srgbClr val="FFFFFF"/>
          </a:solidFill>
          <a:ln w="12700">
            <a:solidFill>
              <a:srgbClr val="FFFFFF"/>
            </a:solidFill>
            <a:prstDash val="solid"/>
          </a:ln>
          <a:effectLst>
            <a:outerShdw blurRad="101600" dist="25400" dir="8100000" algn="bl" rotWithShape="0">
              <a:srgbClr val="000000">
                <a:alpha val="8000"/>
              </a:srgbClr>
            </a:outerShdw>
          </a:effectLst>
        </p:spPr>
        <p:txBody>
          <a:bodyPr/>
          <a:lstStyle/>
          <a:p>
            <a:endParaRPr lang="en-US"/>
          </a:p>
        </p:txBody>
      </p:sp>
      <p:sp>
        <p:nvSpPr>
          <p:cNvPr id="10" name="Text 8"/>
          <p:cNvSpPr/>
          <p:nvPr/>
        </p:nvSpPr>
        <p:spPr>
          <a:xfrm>
            <a:off x="5852160" y="1188720"/>
            <a:ext cx="2926080" cy="1280160"/>
          </a:xfrm>
          <a:prstGeom prst="rect">
            <a:avLst/>
          </a:prstGeom>
          <a:noFill/>
          <a:ln/>
        </p:spPr>
        <p:txBody>
          <a:bodyPr wrap="square" lIns="0" tIns="0" rIns="0" bIns="0" rtlCol="0" anchor="ctr"/>
          <a:lstStyle/>
          <a:p>
            <a:pPr marL="0" indent="0" algn="ctr">
              <a:buNone/>
            </a:pPr>
            <a:r>
              <a:rPr lang="en-US" sz="8800" b="1" dirty="0">
                <a:solidFill>
                  <a:srgbClr val="1E3A5F"/>
                </a:solidFill>
                <a:latin typeface="Georgia" pitchFamily="34" charset="0"/>
                <a:ea typeface="Georgia" pitchFamily="34" charset="-122"/>
                <a:cs typeface="Georgia" pitchFamily="34" charset="-120"/>
              </a:rPr>
              <a:t>4</a:t>
            </a:r>
            <a:endParaRPr lang="en-US" sz="8800" dirty="0"/>
          </a:p>
        </p:txBody>
      </p:sp>
      <p:sp>
        <p:nvSpPr>
          <p:cNvPr id="11" name="Text 9"/>
          <p:cNvSpPr/>
          <p:nvPr/>
        </p:nvSpPr>
        <p:spPr>
          <a:xfrm>
            <a:off x="5852160" y="2514600"/>
            <a:ext cx="2926080" cy="347472"/>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turns with Claude</a:t>
            </a:r>
            <a:endParaRPr lang="en-US" sz="1300" dirty="0"/>
          </a:p>
        </p:txBody>
      </p:sp>
      <p:sp>
        <p:nvSpPr>
          <p:cNvPr id="12" name="Text 10"/>
          <p:cNvSpPr/>
          <p:nvPr/>
        </p:nvSpPr>
        <p:spPr>
          <a:xfrm>
            <a:off x="5852160" y="2907792"/>
            <a:ext cx="2926080" cy="320040"/>
          </a:xfrm>
          <a:prstGeom prst="rect">
            <a:avLst/>
          </a:prstGeom>
          <a:noFill/>
          <a:ln/>
        </p:spPr>
        <p:txBody>
          <a:bodyPr wrap="square" lIns="0" tIns="0" rIns="0" bIns="0" rtlCol="0" anchor="ctr"/>
          <a:lstStyle/>
          <a:p>
            <a:pPr marL="0" indent="0" algn="ctr">
              <a:buNone/>
            </a:pPr>
            <a:r>
              <a:rPr lang="en-US" sz="1000" b="1" dirty="0">
                <a:solidFill>
                  <a:srgbClr val="7C3AED"/>
                </a:solidFill>
                <a:latin typeface="Calibri" pitchFamily="34" charset="0"/>
                <a:ea typeface="Calibri" pitchFamily="34" charset="-122"/>
                <a:cs typeface="Calibri" pitchFamily="34" charset="-120"/>
              </a:rPr>
              <a:t>2 tools dispatched · 1 report produced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5943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Messages Array</a:t>
            </a:r>
            <a:endParaRPr lang="en-US" sz="2200" dirty="0"/>
          </a:p>
        </p:txBody>
      </p:sp>
      <p:sp>
        <p:nvSpPr>
          <p:cNvPr id="4" name="Text 2"/>
          <p:cNvSpPr/>
          <p:nvPr/>
        </p:nvSpPr>
        <p:spPr>
          <a:xfrm>
            <a:off x="457200" y="0"/>
            <a:ext cx="8229600" cy="77724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The loop's memory — grows with every exchange</a:t>
            </a:r>
            <a:endParaRPr lang="en-US" sz="1000" dirty="0"/>
          </a:p>
        </p:txBody>
      </p:sp>
      <p:sp>
        <p:nvSpPr>
          <p:cNvPr id="5" name="Text 3"/>
          <p:cNvSpPr/>
          <p:nvPr/>
        </p:nvSpPr>
        <p:spPr>
          <a:xfrm>
            <a:off x="457200" y="914400"/>
            <a:ext cx="8229600" cy="594360"/>
          </a:xfrm>
          <a:prstGeom prst="rect">
            <a:avLst/>
          </a:prstGeom>
          <a:noFill/>
          <a:ln/>
        </p:spPr>
        <p:txBody>
          <a:bodyPr wrap="square" lIns="0" tIns="0" rIns="0" bIns="0" rtlCol="0" anchor="ctr"/>
          <a:lstStyle/>
          <a:p>
            <a:pPr marL="0" indent="0" algn="l">
              <a:buNone/>
            </a:pPr>
            <a:r>
              <a:rPr lang="en-US" sz="1100" dirty="0">
                <a:solidFill>
                  <a:srgbClr val="0F172A"/>
                </a:solidFill>
                <a:latin typeface="Calibri" pitchFamily="34" charset="0"/>
                <a:ea typeface="Calibri" pitchFamily="34" charset="-122"/>
                <a:cs typeface="Calibri" pitchFamily="34" charset="-120"/>
              </a:rPr>
              <a:t>Before the loop starts, the server creates a messages array — the running transcript of the entire conversation between the server and Claude. Every message ever sent or received gets appended here. This is how Claude knows where it is in the workflow.</a:t>
            </a:r>
            <a:endParaRPr lang="en-US" sz="1100" dirty="0"/>
          </a:p>
        </p:txBody>
      </p:sp>
      <p:sp>
        <p:nvSpPr>
          <p:cNvPr id="6" name="Text 4"/>
          <p:cNvSpPr/>
          <p:nvPr/>
        </p:nvSpPr>
        <p:spPr>
          <a:xfrm>
            <a:off x="457200" y="1600200"/>
            <a:ext cx="8229600" cy="256032"/>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INITIAL STATE  —  1 message</a:t>
            </a:r>
            <a:endParaRPr lang="en-US" sz="900" dirty="0"/>
          </a:p>
        </p:txBody>
      </p:sp>
      <p:sp>
        <p:nvSpPr>
          <p:cNvPr id="7" name="Shape 5"/>
          <p:cNvSpPr/>
          <p:nvPr/>
        </p:nvSpPr>
        <p:spPr>
          <a:xfrm>
            <a:off x="457200" y="1874520"/>
            <a:ext cx="8229600" cy="658368"/>
          </a:xfrm>
          <a:prstGeom prst="rect">
            <a:avLst/>
          </a:prstGeom>
          <a:solidFill>
            <a:srgbClr val="0F172A"/>
          </a:solidFill>
          <a:ln w="12700">
            <a:solidFill>
              <a:srgbClr val="1E293B"/>
            </a:solidFill>
            <a:prstDash val="solid"/>
          </a:ln>
        </p:spPr>
        <p:txBody>
          <a:bodyPr/>
          <a:lstStyle/>
          <a:p>
            <a:endParaRPr lang="en-US"/>
          </a:p>
        </p:txBody>
      </p:sp>
      <p:sp>
        <p:nvSpPr>
          <p:cNvPr id="8" name="Text 6"/>
          <p:cNvSpPr/>
          <p:nvPr/>
        </p:nvSpPr>
        <p:spPr>
          <a:xfrm>
            <a:off x="566928" y="1874520"/>
            <a:ext cx="8092440" cy="658368"/>
          </a:xfrm>
          <a:prstGeom prst="rect">
            <a:avLst/>
          </a:prstGeom>
          <a:noFill/>
          <a:ln/>
        </p:spPr>
        <p:txBody>
          <a:bodyPr wrap="square" lIns="0" tIns="0" rIns="0" bIns="0" rtlCol="0" anchor="ctr"/>
          <a:lstStyle/>
          <a:p>
            <a:pPr marL="0" indent="0">
              <a:buNone/>
            </a:pPr>
            <a:r>
              <a:rPr lang="en-US" sz="950" dirty="0">
                <a:solidFill>
                  <a:srgbClr val="7DD3FC"/>
                </a:solidFill>
                <a:latin typeface="Courier New" pitchFamily="34" charset="0"/>
                <a:ea typeface="Courier New" pitchFamily="34" charset="-122"/>
                <a:cs typeface="Courier New" pitchFamily="34" charset="-120"/>
              </a:rPr>
              <a:t>messages = [</a:t>
            </a:r>
            <a:endParaRPr lang="en-US" sz="950" dirty="0"/>
          </a:p>
          <a:p>
            <a:pPr marL="0" indent="0">
              <a:buNone/>
            </a:pPr>
            <a:r>
              <a:rPr lang="en-US" sz="950" dirty="0">
                <a:solidFill>
                  <a:srgbClr val="7DD3FC"/>
                </a:solidFill>
                <a:latin typeface="Courier New" pitchFamily="34" charset="0"/>
                <a:ea typeface="Courier New" pitchFamily="34" charset="-122"/>
                <a:cs typeface="Courier New" pitchFamily="34" charset="-120"/>
              </a:rPr>
              <a:t>  { role: "user", content: "Analyze contract_a.pdf and contract_b.pdf. Follow your workflow." }</a:t>
            </a:r>
            <a:endParaRPr lang="en-US" sz="950" dirty="0"/>
          </a:p>
          <a:p>
            <a:pPr marL="0" indent="0">
              <a:buNone/>
            </a:pPr>
            <a:r>
              <a:rPr lang="en-US" sz="950" dirty="0">
                <a:solidFill>
                  <a:srgbClr val="7DD3FC"/>
                </a:solidFill>
                <a:latin typeface="Courier New" pitchFamily="34" charset="0"/>
                <a:ea typeface="Courier New" pitchFamily="34" charset="-122"/>
                <a:cs typeface="Courier New" pitchFamily="34" charset="-120"/>
              </a:rPr>
              <a:t>]</a:t>
            </a:r>
            <a:endParaRPr lang="en-US" sz="950" dirty="0"/>
          </a:p>
        </p:txBody>
      </p:sp>
      <p:sp>
        <p:nvSpPr>
          <p:cNvPr id="9" name="Text 7"/>
          <p:cNvSpPr/>
          <p:nvPr/>
        </p:nvSpPr>
        <p:spPr>
          <a:xfrm>
            <a:off x="457200" y="2651760"/>
            <a:ext cx="8229600" cy="256032"/>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AFTER FULL RUN  —  7 messages</a:t>
            </a:r>
            <a:endParaRPr lang="en-US" sz="900" dirty="0"/>
          </a:p>
        </p:txBody>
      </p:sp>
      <p:sp>
        <p:nvSpPr>
          <p:cNvPr id="10" name="Shape 8"/>
          <p:cNvSpPr/>
          <p:nvPr/>
        </p:nvSpPr>
        <p:spPr>
          <a:xfrm>
            <a:off x="457200" y="2926080"/>
            <a:ext cx="8229600" cy="237744"/>
          </a:xfrm>
          <a:prstGeom prst="rect">
            <a:avLst/>
          </a:prstGeom>
          <a:solidFill>
            <a:srgbClr val="EBF2FB"/>
          </a:solidFill>
          <a:ln w="12700">
            <a:solidFill>
              <a:srgbClr val="E2E8F0"/>
            </a:solidFill>
            <a:prstDash val="solid"/>
          </a:ln>
        </p:spPr>
        <p:txBody>
          <a:bodyPr/>
          <a:lstStyle/>
          <a:p>
            <a:endParaRPr lang="en-US"/>
          </a:p>
        </p:txBody>
      </p:sp>
      <p:sp>
        <p:nvSpPr>
          <p:cNvPr id="11" name="Text 9"/>
          <p:cNvSpPr/>
          <p:nvPr/>
        </p:nvSpPr>
        <p:spPr>
          <a:xfrm>
            <a:off x="530352" y="2926080"/>
            <a:ext cx="777240" cy="237744"/>
          </a:xfrm>
          <a:prstGeom prst="rect">
            <a:avLst/>
          </a:prstGeom>
          <a:noFill/>
          <a:ln/>
        </p:spPr>
        <p:txBody>
          <a:bodyPr wrap="square" lIns="0" tIns="0" rIns="0" bIns="0" rtlCol="0" anchor="ctr"/>
          <a:lstStyle/>
          <a:p>
            <a:pPr marL="0" indent="0">
              <a:buNone/>
            </a:pPr>
            <a:r>
              <a:rPr lang="en-US" sz="750" b="1" dirty="0">
                <a:solidFill>
                  <a:srgbClr val="1E3A5F"/>
                </a:solidFill>
                <a:latin typeface="Calibri" pitchFamily="34" charset="0"/>
                <a:ea typeface="Calibri" pitchFamily="34" charset="-122"/>
                <a:cs typeface="Calibri" pitchFamily="34" charset="-120"/>
              </a:rPr>
              <a:t>SERVER</a:t>
            </a:r>
            <a:endParaRPr lang="en-US" sz="750" dirty="0"/>
          </a:p>
        </p:txBody>
      </p:sp>
      <p:sp>
        <p:nvSpPr>
          <p:cNvPr id="12" name="Text 10"/>
          <p:cNvSpPr/>
          <p:nvPr/>
        </p:nvSpPr>
        <p:spPr>
          <a:xfrm>
            <a:off x="1371600" y="2926080"/>
            <a:ext cx="7223760" cy="237744"/>
          </a:xfrm>
          <a:prstGeom prst="rect">
            <a:avLst/>
          </a:prstGeom>
          <a:noFill/>
          <a:ln/>
        </p:spPr>
        <p:txBody>
          <a:bodyPr wrap="square" lIns="0" tIns="0" rIns="0" bIns="0" rtlCol="0" anchor="ctr"/>
          <a:lstStyle/>
          <a:p>
            <a:pPr marL="0" indent="0">
              <a:buNone/>
            </a:pPr>
            <a:r>
              <a:rPr lang="en-US" sz="850" dirty="0">
                <a:solidFill>
                  <a:srgbClr val="0F172A"/>
                </a:solidFill>
                <a:latin typeface="Courier New" pitchFamily="34" charset="0"/>
                <a:ea typeface="Courier New" pitchFamily="34" charset="-122"/>
                <a:cs typeface="Courier New" pitchFamily="34" charset="-120"/>
              </a:rPr>
              <a:t>"Analyze contract_a.pdf and contract_b.pdf..."</a:t>
            </a:r>
            <a:endParaRPr lang="en-US" sz="850" dirty="0"/>
          </a:p>
        </p:txBody>
      </p:sp>
      <p:sp>
        <p:nvSpPr>
          <p:cNvPr id="13" name="Shape 11"/>
          <p:cNvSpPr/>
          <p:nvPr/>
        </p:nvSpPr>
        <p:spPr>
          <a:xfrm>
            <a:off x="457200" y="3200400"/>
            <a:ext cx="8229600" cy="237744"/>
          </a:xfrm>
          <a:prstGeom prst="rect">
            <a:avLst/>
          </a:prstGeom>
          <a:solidFill>
            <a:srgbClr val="F5F0FF"/>
          </a:solidFill>
          <a:ln w="12700">
            <a:solidFill>
              <a:srgbClr val="DDD6FE"/>
            </a:solidFill>
            <a:prstDash val="solid"/>
          </a:ln>
        </p:spPr>
        <p:txBody>
          <a:bodyPr/>
          <a:lstStyle/>
          <a:p>
            <a:endParaRPr lang="en-US"/>
          </a:p>
        </p:txBody>
      </p:sp>
      <p:sp>
        <p:nvSpPr>
          <p:cNvPr id="14" name="Text 12"/>
          <p:cNvSpPr/>
          <p:nvPr/>
        </p:nvSpPr>
        <p:spPr>
          <a:xfrm>
            <a:off x="530352" y="3200400"/>
            <a:ext cx="777240" cy="237744"/>
          </a:xfrm>
          <a:prstGeom prst="rect">
            <a:avLst/>
          </a:prstGeom>
          <a:noFill/>
          <a:ln/>
        </p:spPr>
        <p:txBody>
          <a:bodyPr wrap="square" lIns="0" tIns="0" rIns="0" bIns="0" rtlCol="0" anchor="ctr"/>
          <a:lstStyle/>
          <a:p>
            <a:pPr marL="0" indent="0">
              <a:buNone/>
            </a:pPr>
            <a:r>
              <a:rPr lang="en-US" sz="750" b="1" dirty="0">
                <a:solidFill>
                  <a:srgbClr val="7C3AED"/>
                </a:solidFill>
                <a:latin typeface="Calibri" pitchFamily="34" charset="0"/>
                <a:ea typeface="Calibri" pitchFamily="34" charset="-122"/>
                <a:cs typeface="Calibri" pitchFamily="34" charset="-120"/>
              </a:rPr>
              <a:t>CLAUDE</a:t>
            </a:r>
            <a:endParaRPr lang="en-US" sz="750" dirty="0"/>
          </a:p>
        </p:txBody>
      </p:sp>
      <p:sp>
        <p:nvSpPr>
          <p:cNvPr id="15" name="Text 13"/>
          <p:cNvSpPr/>
          <p:nvPr/>
        </p:nvSpPr>
        <p:spPr>
          <a:xfrm>
            <a:off x="1371600" y="3200400"/>
            <a:ext cx="7223760" cy="237744"/>
          </a:xfrm>
          <a:prstGeom prst="rect">
            <a:avLst/>
          </a:prstGeom>
          <a:noFill/>
          <a:ln/>
        </p:spPr>
        <p:txBody>
          <a:bodyPr wrap="square" lIns="0" tIns="0" rIns="0" bIns="0" rtlCol="0" anchor="ctr"/>
          <a:lstStyle/>
          <a:p>
            <a:pPr marL="0" indent="0">
              <a:buNone/>
            </a:pPr>
            <a:r>
              <a:rPr lang="en-US" sz="850" dirty="0">
                <a:solidFill>
                  <a:srgbClr val="0F172A"/>
                </a:solidFill>
                <a:latin typeface="Courier New" pitchFamily="34" charset="0"/>
                <a:ea typeface="Courier New" pitchFamily="34" charset="-122"/>
                <a:cs typeface="Courier New" pitchFamily="34" charset="-120"/>
              </a:rPr>
              <a:t>[tool_use]  extract_clauses(contract_a.pdf, "company")</a:t>
            </a:r>
            <a:endParaRPr lang="en-US" sz="850" dirty="0"/>
          </a:p>
        </p:txBody>
      </p:sp>
      <p:sp>
        <p:nvSpPr>
          <p:cNvPr id="16" name="Shape 14"/>
          <p:cNvSpPr/>
          <p:nvPr/>
        </p:nvSpPr>
        <p:spPr>
          <a:xfrm>
            <a:off x="457200" y="3474720"/>
            <a:ext cx="8229600" cy="237744"/>
          </a:xfrm>
          <a:prstGeom prst="rect">
            <a:avLst/>
          </a:prstGeom>
          <a:solidFill>
            <a:srgbClr val="EBF2FB"/>
          </a:solidFill>
          <a:ln w="12700">
            <a:solidFill>
              <a:srgbClr val="E2E8F0"/>
            </a:solidFill>
            <a:prstDash val="solid"/>
          </a:ln>
        </p:spPr>
        <p:txBody>
          <a:bodyPr/>
          <a:lstStyle/>
          <a:p>
            <a:endParaRPr lang="en-US"/>
          </a:p>
        </p:txBody>
      </p:sp>
      <p:sp>
        <p:nvSpPr>
          <p:cNvPr id="17" name="Text 15"/>
          <p:cNvSpPr/>
          <p:nvPr/>
        </p:nvSpPr>
        <p:spPr>
          <a:xfrm>
            <a:off x="530352" y="3474720"/>
            <a:ext cx="777240" cy="237744"/>
          </a:xfrm>
          <a:prstGeom prst="rect">
            <a:avLst/>
          </a:prstGeom>
          <a:noFill/>
          <a:ln/>
        </p:spPr>
        <p:txBody>
          <a:bodyPr wrap="square" lIns="0" tIns="0" rIns="0" bIns="0" rtlCol="0" anchor="ctr"/>
          <a:lstStyle/>
          <a:p>
            <a:pPr marL="0" indent="0">
              <a:buNone/>
            </a:pPr>
            <a:r>
              <a:rPr lang="en-US" sz="750" b="1" dirty="0">
                <a:solidFill>
                  <a:srgbClr val="1E3A5F"/>
                </a:solidFill>
                <a:latin typeface="Calibri" pitchFamily="34" charset="0"/>
                <a:ea typeface="Calibri" pitchFamily="34" charset="-122"/>
                <a:cs typeface="Calibri" pitchFamily="34" charset="-120"/>
              </a:rPr>
              <a:t>SERVER</a:t>
            </a:r>
            <a:endParaRPr lang="en-US" sz="750" dirty="0"/>
          </a:p>
        </p:txBody>
      </p:sp>
      <p:sp>
        <p:nvSpPr>
          <p:cNvPr id="18" name="Text 16"/>
          <p:cNvSpPr/>
          <p:nvPr/>
        </p:nvSpPr>
        <p:spPr>
          <a:xfrm>
            <a:off x="1371600" y="3474720"/>
            <a:ext cx="7223760" cy="237744"/>
          </a:xfrm>
          <a:prstGeom prst="rect">
            <a:avLst/>
          </a:prstGeom>
          <a:noFill/>
          <a:ln/>
        </p:spPr>
        <p:txBody>
          <a:bodyPr wrap="square" lIns="0" tIns="0" rIns="0" bIns="0" rtlCol="0" anchor="ctr"/>
          <a:lstStyle/>
          <a:p>
            <a:pPr marL="0" indent="0">
              <a:buNone/>
            </a:pPr>
            <a:r>
              <a:rPr lang="en-US" sz="850" dirty="0">
                <a:solidFill>
                  <a:srgbClr val="0F172A"/>
                </a:solidFill>
                <a:latin typeface="Courier New" pitchFamily="34" charset="0"/>
                <a:ea typeface="Courier New" pitchFamily="34" charset="-122"/>
                <a:cs typeface="Courier New" pitchFamily="34" charset="-120"/>
              </a:rPr>
              <a:t>[tool_result]  { clauses: [...80 clauses from Contract A] }</a:t>
            </a:r>
            <a:endParaRPr lang="en-US" sz="850" dirty="0"/>
          </a:p>
        </p:txBody>
      </p:sp>
      <p:sp>
        <p:nvSpPr>
          <p:cNvPr id="19" name="Shape 17"/>
          <p:cNvSpPr/>
          <p:nvPr/>
        </p:nvSpPr>
        <p:spPr>
          <a:xfrm>
            <a:off x="457200" y="3749040"/>
            <a:ext cx="8229600" cy="237744"/>
          </a:xfrm>
          <a:prstGeom prst="rect">
            <a:avLst/>
          </a:prstGeom>
          <a:solidFill>
            <a:srgbClr val="F5F0FF"/>
          </a:solidFill>
          <a:ln w="12700">
            <a:solidFill>
              <a:srgbClr val="DDD6FE"/>
            </a:solidFill>
            <a:prstDash val="solid"/>
          </a:ln>
        </p:spPr>
        <p:txBody>
          <a:bodyPr/>
          <a:lstStyle/>
          <a:p>
            <a:endParaRPr lang="en-US"/>
          </a:p>
        </p:txBody>
      </p:sp>
      <p:sp>
        <p:nvSpPr>
          <p:cNvPr id="20" name="Text 18"/>
          <p:cNvSpPr/>
          <p:nvPr/>
        </p:nvSpPr>
        <p:spPr>
          <a:xfrm>
            <a:off x="530352" y="3749040"/>
            <a:ext cx="777240" cy="237744"/>
          </a:xfrm>
          <a:prstGeom prst="rect">
            <a:avLst/>
          </a:prstGeom>
          <a:noFill/>
          <a:ln/>
        </p:spPr>
        <p:txBody>
          <a:bodyPr wrap="square" lIns="0" tIns="0" rIns="0" bIns="0" rtlCol="0" anchor="ctr"/>
          <a:lstStyle/>
          <a:p>
            <a:pPr marL="0" indent="0">
              <a:buNone/>
            </a:pPr>
            <a:r>
              <a:rPr lang="en-US" sz="750" b="1" dirty="0">
                <a:solidFill>
                  <a:srgbClr val="7C3AED"/>
                </a:solidFill>
                <a:latin typeface="Calibri" pitchFamily="34" charset="0"/>
                <a:ea typeface="Calibri" pitchFamily="34" charset="-122"/>
                <a:cs typeface="Calibri" pitchFamily="34" charset="-120"/>
              </a:rPr>
              <a:t>CLAUDE</a:t>
            </a:r>
            <a:endParaRPr lang="en-US" sz="750" dirty="0"/>
          </a:p>
        </p:txBody>
      </p:sp>
      <p:sp>
        <p:nvSpPr>
          <p:cNvPr id="21" name="Text 19"/>
          <p:cNvSpPr/>
          <p:nvPr/>
        </p:nvSpPr>
        <p:spPr>
          <a:xfrm>
            <a:off x="1371600" y="3749040"/>
            <a:ext cx="7223760" cy="237744"/>
          </a:xfrm>
          <a:prstGeom prst="rect">
            <a:avLst/>
          </a:prstGeom>
          <a:noFill/>
          <a:ln/>
        </p:spPr>
        <p:txBody>
          <a:bodyPr wrap="square" lIns="0" tIns="0" rIns="0" bIns="0" rtlCol="0" anchor="ctr"/>
          <a:lstStyle/>
          <a:p>
            <a:pPr marL="0" indent="0">
              <a:buNone/>
            </a:pPr>
            <a:r>
              <a:rPr lang="en-US" sz="850" dirty="0">
                <a:solidFill>
                  <a:srgbClr val="0F172A"/>
                </a:solidFill>
                <a:latin typeface="Courier New" pitchFamily="34" charset="0"/>
                <a:ea typeface="Courier New" pitchFamily="34" charset="-122"/>
                <a:cs typeface="Courier New" pitchFamily="34" charset="-120"/>
              </a:rPr>
              <a:t>[tool_use]  extract_clauses(contract_b.pdf, "vendor")</a:t>
            </a:r>
            <a:endParaRPr lang="en-US" sz="850" dirty="0"/>
          </a:p>
        </p:txBody>
      </p:sp>
      <p:sp>
        <p:nvSpPr>
          <p:cNvPr id="22" name="Shape 20"/>
          <p:cNvSpPr/>
          <p:nvPr/>
        </p:nvSpPr>
        <p:spPr>
          <a:xfrm>
            <a:off x="457200" y="4023360"/>
            <a:ext cx="8229600" cy="237744"/>
          </a:xfrm>
          <a:prstGeom prst="rect">
            <a:avLst/>
          </a:prstGeom>
          <a:solidFill>
            <a:srgbClr val="EBF2FB"/>
          </a:solidFill>
          <a:ln w="12700">
            <a:solidFill>
              <a:srgbClr val="E2E8F0"/>
            </a:solidFill>
            <a:prstDash val="solid"/>
          </a:ln>
        </p:spPr>
        <p:txBody>
          <a:bodyPr/>
          <a:lstStyle/>
          <a:p>
            <a:endParaRPr lang="en-US"/>
          </a:p>
        </p:txBody>
      </p:sp>
      <p:sp>
        <p:nvSpPr>
          <p:cNvPr id="23" name="Text 21"/>
          <p:cNvSpPr/>
          <p:nvPr/>
        </p:nvSpPr>
        <p:spPr>
          <a:xfrm>
            <a:off x="530352" y="4023360"/>
            <a:ext cx="777240" cy="237744"/>
          </a:xfrm>
          <a:prstGeom prst="rect">
            <a:avLst/>
          </a:prstGeom>
          <a:noFill/>
          <a:ln/>
        </p:spPr>
        <p:txBody>
          <a:bodyPr wrap="square" lIns="0" tIns="0" rIns="0" bIns="0" rtlCol="0" anchor="ctr"/>
          <a:lstStyle/>
          <a:p>
            <a:pPr marL="0" indent="0">
              <a:buNone/>
            </a:pPr>
            <a:r>
              <a:rPr lang="en-US" sz="750" b="1" dirty="0">
                <a:solidFill>
                  <a:srgbClr val="1E3A5F"/>
                </a:solidFill>
                <a:latin typeface="Calibri" pitchFamily="34" charset="0"/>
                <a:ea typeface="Calibri" pitchFamily="34" charset="-122"/>
                <a:cs typeface="Calibri" pitchFamily="34" charset="-120"/>
              </a:rPr>
              <a:t>SERVER</a:t>
            </a:r>
            <a:endParaRPr lang="en-US" sz="750" dirty="0"/>
          </a:p>
        </p:txBody>
      </p:sp>
      <p:sp>
        <p:nvSpPr>
          <p:cNvPr id="24" name="Text 22"/>
          <p:cNvSpPr/>
          <p:nvPr/>
        </p:nvSpPr>
        <p:spPr>
          <a:xfrm>
            <a:off x="1371600" y="4023360"/>
            <a:ext cx="7223760" cy="237744"/>
          </a:xfrm>
          <a:prstGeom prst="rect">
            <a:avLst/>
          </a:prstGeom>
          <a:noFill/>
          <a:ln/>
        </p:spPr>
        <p:txBody>
          <a:bodyPr wrap="square" lIns="0" tIns="0" rIns="0" bIns="0" rtlCol="0" anchor="ctr"/>
          <a:lstStyle/>
          <a:p>
            <a:pPr marL="0" indent="0">
              <a:buNone/>
            </a:pPr>
            <a:r>
              <a:rPr lang="en-US" sz="850" dirty="0">
                <a:solidFill>
                  <a:srgbClr val="0F172A"/>
                </a:solidFill>
                <a:latin typeface="Courier New" pitchFamily="34" charset="0"/>
                <a:ea typeface="Courier New" pitchFamily="34" charset="-122"/>
                <a:cs typeface="Courier New" pitchFamily="34" charset="-120"/>
              </a:rPr>
              <a:t>[tool_result]  { clauses: [...95 clauses from Contract B] }</a:t>
            </a:r>
            <a:endParaRPr lang="en-US" sz="850" dirty="0"/>
          </a:p>
        </p:txBody>
      </p:sp>
      <p:sp>
        <p:nvSpPr>
          <p:cNvPr id="25" name="Shape 23"/>
          <p:cNvSpPr/>
          <p:nvPr/>
        </p:nvSpPr>
        <p:spPr>
          <a:xfrm>
            <a:off x="457200" y="4297680"/>
            <a:ext cx="8229600" cy="237744"/>
          </a:xfrm>
          <a:prstGeom prst="rect">
            <a:avLst/>
          </a:prstGeom>
          <a:solidFill>
            <a:srgbClr val="F5F0FF"/>
          </a:solidFill>
          <a:ln w="12700">
            <a:solidFill>
              <a:srgbClr val="DDD6FE"/>
            </a:solidFill>
            <a:prstDash val="solid"/>
          </a:ln>
        </p:spPr>
        <p:txBody>
          <a:bodyPr/>
          <a:lstStyle/>
          <a:p>
            <a:endParaRPr lang="en-US"/>
          </a:p>
        </p:txBody>
      </p:sp>
      <p:sp>
        <p:nvSpPr>
          <p:cNvPr id="26" name="Text 24"/>
          <p:cNvSpPr/>
          <p:nvPr/>
        </p:nvSpPr>
        <p:spPr>
          <a:xfrm>
            <a:off x="530352" y="4297680"/>
            <a:ext cx="777240" cy="237744"/>
          </a:xfrm>
          <a:prstGeom prst="rect">
            <a:avLst/>
          </a:prstGeom>
          <a:noFill/>
          <a:ln/>
        </p:spPr>
        <p:txBody>
          <a:bodyPr wrap="square" lIns="0" tIns="0" rIns="0" bIns="0" rtlCol="0" anchor="ctr"/>
          <a:lstStyle/>
          <a:p>
            <a:pPr marL="0" indent="0">
              <a:buNone/>
            </a:pPr>
            <a:r>
              <a:rPr lang="en-US" sz="750" b="1" dirty="0">
                <a:solidFill>
                  <a:srgbClr val="7C3AED"/>
                </a:solidFill>
                <a:latin typeface="Calibri" pitchFamily="34" charset="0"/>
                <a:ea typeface="Calibri" pitchFamily="34" charset="-122"/>
                <a:cs typeface="Calibri" pitchFamily="34" charset="-120"/>
              </a:rPr>
              <a:t>CLAUDE</a:t>
            </a:r>
            <a:endParaRPr lang="en-US" sz="750" dirty="0"/>
          </a:p>
        </p:txBody>
      </p:sp>
      <p:sp>
        <p:nvSpPr>
          <p:cNvPr id="27" name="Text 25"/>
          <p:cNvSpPr/>
          <p:nvPr/>
        </p:nvSpPr>
        <p:spPr>
          <a:xfrm>
            <a:off x="1371600" y="4297680"/>
            <a:ext cx="7223760" cy="237744"/>
          </a:xfrm>
          <a:prstGeom prst="rect">
            <a:avLst/>
          </a:prstGeom>
          <a:noFill/>
          <a:ln/>
        </p:spPr>
        <p:txBody>
          <a:bodyPr wrap="square" lIns="0" tIns="0" rIns="0" bIns="0" rtlCol="0" anchor="ctr"/>
          <a:lstStyle/>
          <a:p>
            <a:pPr marL="0" indent="0">
              <a:buNone/>
            </a:pPr>
            <a:r>
              <a:rPr lang="en-US" sz="850" dirty="0">
                <a:solidFill>
                  <a:srgbClr val="0F172A"/>
                </a:solidFill>
                <a:latin typeface="Courier New" pitchFamily="34" charset="0"/>
                <a:ea typeface="Courier New" pitchFamily="34" charset="-122"/>
                <a:cs typeface="Courier New" pitchFamily="34" charset="-120"/>
              </a:rPr>
              <a:t>[tool_use]  generate_redline_brief([...10 conflicts...])</a:t>
            </a:r>
            <a:endParaRPr lang="en-US" sz="850" dirty="0"/>
          </a:p>
        </p:txBody>
      </p:sp>
      <p:sp>
        <p:nvSpPr>
          <p:cNvPr id="28" name="Shape 26"/>
          <p:cNvSpPr/>
          <p:nvPr/>
        </p:nvSpPr>
        <p:spPr>
          <a:xfrm>
            <a:off x="457200" y="4572000"/>
            <a:ext cx="8229600" cy="237744"/>
          </a:xfrm>
          <a:prstGeom prst="rect">
            <a:avLst/>
          </a:prstGeom>
          <a:solidFill>
            <a:srgbClr val="EBF2FB"/>
          </a:solidFill>
          <a:ln w="12700">
            <a:solidFill>
              <a:srgbClr val="E2E8F0"/>
            </a:solidFill>
            <a:prstDash val="solid"/>
          </a:ln>
        </p:spPr>
        <p:txBody>
          <a:bodyPr/>
          <a:lstStyle/>
          <a:p>
            <a:endParaRPr lang="en-US"/>
          </a:p>
        </p:txBody>
      </p:sp>
      <p:sp>
        <p:nvSpPr>
          <p:cNvPr id="29" name="Text 27"/>
          <p:cNvSpPr/>
          <p:nvPr/>
        </p:nvSpPr>
        <p:spPr>
          <a:xfrm>
            <a:off x="530352" y="4572000"/>
            <a:ext cx="777240" cy="237744"/>
          </a:xfrm>
          <a:prstGeom prst="rect">
            <a:avLst/>
          </a:prstGeom>
          <a:noFill/>
          <a:ln/>
        </p:spPr>
        <p:txBody>
          <a:bodyPr wrap="square" lIns="0" tIns="0" rIns="0" bIns="0" rtlCol="0" anchor="ctr"/>
          <a:lstStyle/>
          <a:p>
            <a:pPr marL="0" indent="0">
              <a:buNone/>
            </a:pPr>
            <a:r>
              <a:rPr lang="en-US" sz="750" b="1" dirty="0">
                <a:solidFill>
                  <a:srgbClr val="1E3A5F"/>
                </a:solidFill>
                <a:latin typeface="Calibri" pitchFamily="34" charset="0"/>
                <a:ea typeface="Calibri" pitchFamily="34" charset="-122"/>
                <a:cs typeface="Calibri" pitchFamily="34" charset="-120"/>
              </a:rPr>
              <a:t>SERVER</a:t>
            </a:r>
            <a:endParaRPr lang="en-US" sz="750" dirty="0"/>
          </a:p>
        </p:txBody>
      </p:sp>
      <p:sp>
        <p:nvSpPr>
          <p:cNvPr id="30" name="Text 28"/>
          <p:cNvSpPr/>
          <p:nvPr/>
        </p:nvSpPr>
        <p:spPr>
          <a:xfrm>
            <a:off x="1371600" y="4572000"/>
            <a:ext cx="7223760" cy="237744"/>
          </a:xfrm>
          <a:prstGeom prst="rect">
            <a:avLst/>
          </a:prstGeom>
          <a:noFill/>
          <a:ln/>
        </p:spPr>
        <p:txBody>
          <a:bodyPr wrap="square" lIns="0" tIns="0" rIns="0" bIns="0" rtlCol="0" anchor="ctr"/>
          <a:lstStyle/>
          <a:p>
            <a:pPr marL="0" indent="0">
              <a:buNone/>
            </a:pPr>
            <a:r>
              <a:rPr lang="en-US" sz="850" dirty="0">
                <a:solidFill>
                  <a:srgbClr val="0F172A"/>
                </a:solidFill>
                <a:latin typeface="Courier New" pitchFamily="34" charset="0"/>
                <a:ea typeface="Courier New" pitchFamily="34" charset="-122"/>
                <a:cs typeface="Courier New" pitchFamily="34" charset="-120"/>
              </a:rPr>
              <a:t>[tool_result]  { success: true, report: {...} }</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5943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Turn 1 — Claude Decides What To Do First</a:t>
            </a:r>
            <a:endParaRPr lang="en-US" sz="2200" dirty="0"/>
          </a:p>
        </p:txBody>
      </p:sp>
      <p:sp>
        <p:nvSpPr>
          <p:cNvPr id="4" name="Text 2"/>
          <p:cNvSpPr/>
          <p:nvPr/>
        </p:nvSpPr>
        <p:spPr>
          <a:xfrm>
            <a:off x="457200" y="0"/>
            <a:ext cx="8229600" cy="77724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stop_reason: tool_use</a:t>
            </a:r>
            <a:endParaRPr lang="en-US" sz="1000" dirty="0"/>
          </a:p>
        </p:txBody>
      </p:sp>
      <p:sp>
        <p:nvSpPr>
          <p:cNvPr id="5" name="Shape 3"/>
          <p:cNvSpPr/>
          <p:nvPr/>
        </p:nvSpPr>
        <p:spPr>
          <a:xfrm>
            <a:off x="365760" y="914400"/>
            <a:ext cx="3840480" cy="3931920"/>
          </a:xfrm>
          <a:prstGeom prst="rect">
            <a:avLst/>
          </a:prstGeom>
          <a:solidFill>
            <a:srgbClr val="EBF2FB"/>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6" name="Text 4"/>
          <p:cNvSpPr/>
          <p:nvPr/>
        </p:nvSpPr>
        <p:spPr>
          <a:xfrm>
            <a:off x="502920" y="1005840"/>
            <a:ext cx="3566160" cy="274320"/>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What the server sends</a:t>
            </a:r>
            <a:endParaRPr lang="en-US" sz="1000" dirty="0"/>
          </a:p>
        </p:txBody>
      </p:sp>
      <p:sp>
        <p:nvSpPr>
          <p:cNvPr id="7" name="Shape 5"/>
          <p:cNvSpPr/>
          <p:nvPr/>
        </p:nvSpPr>
        <p:spPr>
          <a:xfrm>
            <a:off x="502920" y="1371600"/>
            <a:ext cx="3566160" cy="1371600"/>
          </a:xfrm>
          <a:prstGeom prst="rect">
            <a:avLst/>
          </a:prstGeom>
          <a:solidFill>
            <a:srgbClr val="0F172A"/>
          </a:solidFill>
          <a:ln w="12700">
            <a:solidFill>
              <a:srgbClr val="1E293B"/>
            </a:solidFill>
            <a:prstDash val="solid"/>
          </a:ln>
        </p:spPr>
        <p:txBody>
          <a:bodyPr/>
          <a:lstStyle/>
          <a:p>
            <a:endParaRPr lang="en-US"/>
          </a:p>
        </p:txBody>
      </p:sp>
      <p:sp>
        <p:nvSpPr>
          <p:cNvPr id="8" name="Text 6"/>
          <p:cNvSpPr/>
          <p:nvPr/>
        </p:nvSpPr>
        <p:spPr>
          <a:xfrm>
            <a:off x="612648" y="1371600"/>
            <a:ext cx="3429000" cy="1371600"/>
          </a:xfrm>
          <a:prstGeom prst="rect">
            <a:avLst/>
          </a:prstGeom>
          <a:noFill/>
          <a:ln/>
        </p:spPr>
        <p:txBody>
          <a:bodyPr wrap="square" lIns="0" tIns="0" rIns="0" bIns="0" rtlCol="0" anchor="ctr"/>
          <a:lstStyle/>
          <a:p>
            <a:pPr marL="0" indent="0">
              <a:buNone/>
            </a:pPr>
            <a:r>
              <a:rPr lang="en-US" sz="850" dirty="0">
                <a:solidFill>
                  <a:srgbClr val="7DD3FC"/>
                </a:solidFill>
                <a:latin typeface="Courier New" pitchFamily="34" charset="0"/>
                <a:ea typeface="Courier New" pitchFamily="34" charset="-122"/>
                <a:cs typeface="Courier New" pitchFamily="34" charset="-120"/>
              </a:rPr>
              <a:t>client.messages.stream(</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model: "claude-sonnet-4-6",</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system: SYSTEM_PROMPT,</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tools: [extract_clauses, generate_redline_brief],</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messages: [ {role:"user", content:"Analyze..."} ]</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a:t>
            </a:r>
            <a:endParaRPr lang="en-US" sz="850" dirty="0"/>
          </a:p>
        </p:txBody>
      </p:sp>
      <p:sp>
        <p:nvSpPr>
          <p:cNvPr id="9" name="Text 7"/>
          <p:cNvSpPr/>
          <p:nvPr/>
        </p:nvSpPr>
        <p:spPr>
          <a:xfrm>
            <a:off x="502920" y="2834640"/>
            <a:ext cx="3566160" cy="178308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Claude receives:</a:t>
            </a:r>
            <a:endParaRPr lang="en-US" sz="1000" dirty="0"/>
          </a:p>
          <a:p>
            <a:pPr marL="0" indent="0">
              <a:buNone/>
            </a:pPr>
            <a:endParaRPr lang="en-US" sz="1000" dirty="0"/>
          </a:p>
          <a:p>
            <a:pPr marL="0" indent="0">
              <a:buNone/>
            </a:pPr>
            <a:r>
              <a:rPr lang="en-US" sz="1000" dirty="0">
                <a:solidFill>
                  <a:srgbClr val="0F172A"/>
                </a:solidFill>
                <a:latin typeface="Calibri" pitchFamily="34" charset="0"/>
                <a:ea typeface="Calibri" pitchFamily="34" charset="-122"/>
                <a:cs typeface="Calibri" pitchFamily="34" charset="-120"/>
              </a:rPr>
              <a:t>• Its role and instructions (system prompt)</a:t>
            </a:r>
            <a:endParaRPr lang="en-US" sz="1000" dirty="0"/>
          </a:p>
          <a:p>
            <a:pPr marL="0" indent="0">
              <a:buNone/>
            </a:pPr>
            <a:r>
              <a:rPr lang="en-US" sz="1000" dirty="0">
                <a:solidFill>
                  <a:srgbClr val="0F172A"/>
                </a:solidFill>
                <a:latin typeface="Calibri" pitchFamily="34" charset="0"/>
                <a:ea typeface="Calibri" pitchFamily="34" charset="-122"/>
                <a:cs typeface="Calibri" pitchFamily="34" charset="-120"/>
              </a:rPr>
              <a:t>• The list of tools it's allowed to use</a:t>
            </a:r>
            <a:endParaRPr lang="en-US" sz="1000" dirty="0"/>
          </a:p>
          <a:p>
            <a:pPr marL="0" indent="0">
              <a:buNone/>
            </a:pPr>
            <a:r>
              <a:rPr lang="en-US" sz="1000" dirty="0">
                <a:solidFill>
                  <a:srgbClr val="0F172A"/>
                </a:solidFill>
                <a:latin typeface="Calibri" pitchFamily="34" charset="0"/>
                <a:ea typeface="Calibri" pitchFamily="34" charset="-122"/>
                <a:cs typeface="Calibri" pitchFamily="34" charset="-120"/>
              </a:rPr>
              <a:t>• The messages array (currently just the user's request)</a:t>
            </a:r>
            <a:endParaRPr lang="en-US" sz="1000" dirty="0"/>
          </a:p>
        </p:txBody>
      </p:sp>
      <p:sp>
        <p:nvSpPr>
          <p:cNvPr id="10" name="Shape 8"/>
          <p:cNvSpPr/>
          <p:nvPr/>
        </p:nvSpPr>
        <p:spPr>
          <a:xfrm>
            <a:off x="4572000" y="914400"/>
            <a:ext cx="4206240" cy="3931920"/>
          </a:xfrm>
          <a:prstGeom prst="rect">
            <a:avLst/>
          </a:prstGeom>
          <a:solidFill>
            <a:srgbClr val="F5F0FF"/>
          </a:solidFill>
          <a:ln w="12700">
            <a:solidFill>
              <a:srgbClr val="DDD6FE"/>
            </a:solidFill>
            <a:prstDash val="solid"/>
          </a:ln>
          <a:effectLst>
            <a:outerShdw blurRad="101600" dist="25400" dir="8100000" algn="bl" rotWithShape="0">
              <a:srgbClr val="000000">
                <a:alpha val="8000"/>
              </a:srgbClr>
            </a:outerShdw>
          </a:effectLst>
        </p:spPr>
        <p:txBody>
          <a:bodyPr/>
          <a:lstStyle/>
          <a:p>
            <a:endParaRPr lang="en-US"/>
          </a:p>
        </p:txBody>
      </p:sp>
      <p:sp>
        <p:nvSpPr>
          <p:cNvPr id="11" name="Text 9"/>
          <p:cNvSpPr/>
          <p:nvPr/>
        </p:nvSpPr>
        <p:spPr>
          <a:xfrm>
            <a:off x="4709160" y="1005840"/>
            <a:ext cx="3931920" cy="274320"/>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What Claude responds with</a:t>
            </a:r>
            <a:endParaRPr lang="en-US" sz="1000" dirty="0"/>
          </a:p>
        </p:txBody>
      </p:sp>
      <p:sp>
        <p:nvSpPr>
          <p:cNvPr id="12" name="Shape 10"/>
          <p:cNvSpPr/>
          <p:nvPr/>
        </p:nvSpPr>
        <p:spPr>
          <a:xfrm>
            <a:off x="4709160" y="1371600"/>
            <a:ext cx="3931920" cy="2286000"/>
          </a:xfrm>
          <a:prstGeom prst="rect">
            <a:avLst/>
          </a:prstGeom>
          <a:solidFill>
            <a:srgbClr val="0F172A"/>
          </a:solidFill>
          <a:ln w="12700">
            <a:solidFill>
              <a:srgbClr val="1E293B"/>
            </a:solidFill>
            <a:prstDash val="solid"/>
          </a:ln>
        </p:spPr>
        <p:txBody>
          <a:bodyPr/>
          <a:lstStyle/>
          <a:p>
            <a:endParaRPr lang="en-US"/>
          </a:p>
        </p:txBody>
      </p:sp>
      <p:sp>
        <p:nvSpPr>
          <p:cNvPr id="13" name="Text 11"/>
          <p:cNvSpPr/>
          <p:nvPr/>
        </p:nvSpPr>
        <p:spPr>
          <a:xfrm>
            <a:off x="4818888" y="1371600"/>
            <a:ext cx="3794760" cy="2286000"/>
          </a:xfrm>
          <a:prstGeom prst="rect">
            <a:avLst/>
          </a:prstGeom>
          <a:noFill/>
          <a:ln/>
        </p:spPr>
        <p:txBody>
          <a:bodyPr wrap="square" lIns="0" tIns="0" rIns="0" bIns="0" rtlCol="0" anchor="ctr"/>
          <a:lstStyle/>
          <a:p>
            <a:pPr marL="0" indent="0">
              <a:buNone/>
            </a:pPr>
            <a:r>
              <a:rPr lang="en-US" sz="850" dirty="0">
                <a:solidFill>
                  <a:srgbClr val="7DD3FC"/>
                </a:solidFill>
                <a:latin typeface="Courier New" pitchFamily="34" charset="0"/>
                <a:ea typeface="Courier New" pitchFamily="34" charset="-122"/>
                <a:cs typeface="Courier New" pitchFamily="34" charset="-120"/>
              </a:rPr>
              <a:t>stop_reason: "tool_use"</a:t>
            </a:r>
            <a:endParaRPr lang="en-US" sz="850" dirty="0"/>
          </a:p>
          <a:p>
            <a:pPr marL="0" indent="0">
              <a:buNone/>
            </a:pP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content: [</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type: "tool_use",</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name: "extract_clauses",</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input: {</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pdf_path: "uploads/.../contract_a.pdf",</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party_label: "company"</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7DD3FC"/>
                </a:solidFill>
                <a:latin typeface="Courier New" pitchFamily="34" charset="0"/>
                <a:ea typeface="Courier New" pitchFamily="34" charset="-122"/>
                <a:cs typeface="Courier New" pitchFamily="34" charset="-120"/>
              </a:rPr>
              <a:t>]</a:t>
            </a:r>
            <a:endParaRPr lang="en-US" sz="850" dirty="0"/>
          </a:p>
        </p:txBody>
      </p:sp>
      <p:sp>
        <p:nvSpPr>
          <p:cNvPr id="14" name="Text 12"/>
          <p:cNvSpPr/>
          <p:nvPr/>
        </p:nvSpPr>
        <p:spPr>
          <a:xfrm>
            <a:off x="4709160" y="3749040"/>
            <a:ext cx="3931920" cy="822960"/>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stop_reason: "tool_use" means:</a:t>
            </a:r>
            <a:endParaRPr lang="en-US" sz="1000" dirty="0"/>
          </a:p>
          <a:p>
            <a:pPr marL="0" indent="0">
              <a:buNone/>
            </a:pPr>
            <a:r>
              <a:rPr lang="en-US" sz="1000" i="1" dirty="0">
                <a:solidFill>
                  <a:srgbClr val="0F172A"/>
                </a:solidFill>
                <a:latin typeface="Calibri" pitchFamily="34" charset="0"/>
                <a:ea typeface="Calibri" pitchFamily="34" charset="-122"/>
                <a:cs typeface="Calibri" pitchFamily="34" charset="-120"/>
              </a:rPr>
              <a:t>"I'm not done — run this function for me and report back."</a:t>
            </a:r>
            <a:endParaRPr lang="en-US" sz="1000" dirty="0"/>
          </a:p>
        </p:txBody>
      </p:sp>
      <p:sp>
        <p:nvSpPr>
          <p:cNvPr id="15" name="Shape 13"/>
          <p:cNvSpPr/>
          <p:nvPr/>
        </p:nvSpPr>
        <p:spPr>
          <a:xfrm>
            <a:off x="502920" y="868680"/>
            <a:ext cx="1025957" cy="219456"/>
          </a:xfrm>
          <a:prstGeom prst="rect">
            <a:avLst/>
          </a:prstGeom>
          <a:solidFill>
            <a:srgbClr val="1E3A5F"/>
          </a:solidFill>
          <a:ln w="12700">
            <a:solidFill>
              <a:srgbClr val="1E3A5F"/>
            </a:solidFill>
            <a:prstDash val="solid"/>
          </a:ln>
        </p:spPr>
        <p:txBody>
          <a:bodyPr/>
          <a:lstStyle/>
          <a:p>
            <a:endParaRPr lang="en-US"/>
          </a:p>
        </p:txBody>
      </p:sp>
      <p:sp>
        <p:nvSpPr>
          <p:cNvPr id="16" name="Text 14"/>
          <p:cNvSpPr/>
          <p:nvPr/>
        </p:nvSpPr>
        <p:spPr>
          <a:xfrm>
            <a:off x="502920" y="868680"/>
            <a:ext cx="1025957"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API CALL #1</a:t>
            </a:r>
            <a:endParaRPr lang="en-US" sz="800" dirty="0"/>
          </a:p>
        </p:txBody>
      </p:sp>
      <p:sp>
        <p:nvSpPr>
          <p:cNvPr id="17" name="Shape 15"/>
          <p:cNvSpPr/>
          <p:nvPr/>
        </p:nvSpPr>
        <p:spPr>
          <a:xfrm>
            <a:off x="4709160" y="868680"/>
            <a:ext cx="1475842" cy="219456"/>
          </a:xfrm>
          <a:prstGeom prst="rect">
            <a:avLst/>
          </a:prstGeom>
          <a:solidFill>
            <a:srgbClr val="7C3AED"/>
          </a:solidFill>
          <a:ln w="12700">
            <a:solidFill>
              <a:srgbClr val="7C3AED"/>
            </a:solidFill>
            <a:prstDash val="solid"/>
          </a:ln>
        </p:spPr>
        <p:txBody>
          <a:bodyPr/>
          <a:lstStyle/>
          <a:p>
            <a:endParaRPr lang="en-US"/>
          </a:p>
        </p:txBody>
      </p:sp>
      <p:sp>
        <p:nvSpPr>
          <p:cNvPr id="18" name="Text 16"/>
          <p:cNvSpPr/>
          <p:nvPr/>
        </p:nvSpPr>
        <p:spPr>
          <a:xfrm>
            <a:off x="4709160" y="868680"/>
            <a:ext cx="1475842"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CLAUDE'S DECISION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5943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Tool Dispatch — Server Runs extract_clauses( )</a:t>
            </a:r>
            <a:endParaRPr lang="en-US" sz="2200" dirty="0"/>
          </a:p>
        </p:txBody>
      </p:sp>
      <p:sp>
        <p:nvSpPr>
          <p:cNvPr id="4" name="Text 2"/>
          <p:cNvSpPr/>
          <p:nvPr/>
        </p:nvSpPr>
        <p:spPr>
          <a:xfrm>
            <a:off x="457200" y="0"/>
            <a:ext cx="8229600" cy="77724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Claude can't open files — the server does it on its behalf</a:t>
            </a:r>
            <a:endParaRPr lang="en-US" sz="1000" dirty="0"/>
          </a:p>
        </p:txBody>
      </p:sp>
      <p:sp>
        <p:nvSpPr>
          <p:cNvPr id="5" name="Shape 3"/>
          <p:cNvSpPr/>
          <p:nvPr/>
        </p:nvSpPr>
        <p:spPr>
          <a:xfrm>
            <a:off x="365760" y="960120"/>
            <a:ext cx="8412480" cy="658368"/>
          </a:xfrm>
          <a:prstGeom prst="rect">
            <a:avLst/>
          </a:prstGeom>
          <a:solidFill>
            <a:srgbClr val="F8FAFC"/>
          </a:solidFill>
          <a:ln w="12700">
            <a:solidFill>
              <a:srgbClr val="E2E8F0"/>
            </a:solidFill>
            <a:prstDash val="solid"/>
          </a:ln>
        </p:spPr>
        <p:txBody>
          <a:bodyPr/>
          <a:lstStyle/>
          <a:p>
            <a:endParaRPr lang="en-US"/>
          </a:p>
        </p:txBody>
      </p:sp>
      <p:sp>
        <p:nvSpPr>
          <p:cNvPr id="6" name="Shape 4"/>
          <p:cNvSpPr/>
          <p:nvPr/>
        </p:nvSpPr>
        <p:spPr>
          <a:xfrm>
            <a:off x="365760" y="960120"/>
            <a:ext cx="411480" cy="658368"/>
          </a:xfrm>
          <a:prstGeom prst="rect">
            <a:avLst/>
          </a:prstGeom>
          <a:solidFill>
            <a:srgbClr val="1E3A5F"/>
          </a:solidFill>
          <a:ln w="12700">
            <a:solidFill>
              <a:srgbClr val="1E3A5F"/>
            </a:solidFill>
            <a:prstDash val="solid"/>
          </a:ln>
        </p:spPr>
        <p:txBody>
          <a:bodyPr/>
          <a:lstStyle/>
          <a:p>
            <a:endParaRPr lang="en-US"/>
          </a:p>
        </p:txBody>
      </p:sp>
      <p:sp>
        <p:nvSpPr>
          <p:cNvPr id="7" name="Text 5"/>
          <p:cNvSpPr/>
          <p:nvPr/>
        </p:nvSpPr>
        <p:spPr>
          <a:xfrm>
            <a:off x="365760" y="960120"/>
            <a:ext cx="41148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854926" y="1014984"/>
            <a:ext cx="2894113" cy="237744"/>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Look up the function</a:t>
            </a:r>
            <a:endParaRPr lang="en-US" sz="1050" dirty="0"/>
          </a:p>
        </p:txBody>
      </p:sp>
      <p:sp>
        <p:nvSpPr>
          <p:cNvPr id="9" name="Text 7"/>
          <p:cNvSpPr/>
          <p:nvPr/>
        </p:nvSpPr>
        <p:spPr>
          <a:xfrm>
            <a:off x="854926" y="1271016"/>
            <a:ext cx="7831874"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Server reads block.name ("extract_clauses") and finds the matching Python function in TOOL_MAP.</a:t>
            </a:r>
            <a:endParaRPr lang="en-US" sz="950" dirty="0"/>
          </a:p>
        </p:txBody>
      </p:sp>
      <p:sp>
        <p:nvSpPr>
          <p:cNvPr id="10" name="Shape 8"/>
          <p:cNvSpPr/>
          <p:nvPr/>
        </p:nvSpPr>
        <p:spPr>
          <a:xfrm>
            <a:off x="365760" y="1728216"/>
            <a:ext cx="8412480" cy="658368"/>
          </a:xfrm>
          <a:prstGeom prst="rect">
            <a:avLst/>
          </a:prstGeom>
          <a:solidFill>
            <a:srgbClr val="F8FAFC"/>
          </a:solidFill>
          <a:ln w="12700">
            <a:solidFill>
              <a:srgbClr val="E2E8F0"/>
            </a:solidFill>
            <a:prstDash val="solid"/>
          </a:ln>
        </p:spPr>
        <p:txBody>
          <a:bodyPr/>
          <a:lstStyle/>
          <a:p>
            <a:endParaRPr lang="en-US"/>
          </a:p>
        </p:txBody>
      </p:sp>
      <p:sp>
        <p:nvSpPr>
          <p:cNvPr id="11" name="Shape 9"/>
          <p:cNvSpPr/>
          <p:nvPr/>
        </p:nvSpPr>
        <p:spPr>
          <a:xfrm>
            <a:off x="365760" y="1728216"/>
            <a:ext cx="411480" cy="658368"/>
          </a:xfrm>
          <a:prstGeom prst="rect">
            <a:avLst/>
          </a:prstGeom>
          <a:solidFill>
            <a:srgbClr val="2D5282"/>
          </a:solidFill>
          <a:ln w="12700">
            <a:solidFill>
              <a:srgbClr val="2D5282"/>
            </a:solidFill>
            <a:prstDash val="solid"/>
          </a:ln>
        </p:spPr>
        <p:txBody>
          <a:bodyPr/>
          <a:lstStyle/>
          <a:p>
            <a:endParaRPr lang="en-US"/>
          </a:p>
        </p:txBody>
      </p:sp>
      <p:sp>
        <p:nvSpPr>
          <p:cNvPr id="12" name="Text 10"/>
          <p:cNvSpPr/>
          <p:nvPr/>
        </p:nvSpPr>
        <p:spPr>
          <a:xfrm>
            <a:off x="365760" y="1728216"/>
            <a:ext cx="41148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3" name="Text 11"/>
          <p:cNvSpPr/>
          <p:nvPr/>
        </p:nvSpPr>
        <p:spPr>
          <a:xfrm>
            <a:off x="854926" y="1783080"/>
            <a:ext cx="2894114" cy="237744"/>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Call it with Claude's inputs</a:t>
            </a:r>
            <a:endParaRPr lang="en-US" sz="1050" dirty="0"/>
          </a:p>
        </p:txBody>
      </p:sp>
      <p:sp>
        <p:nvSpPr>
          <p:cNvPr id="14" name="Text 12"/>
          <p:cNvSpPr/>
          <p:nvPr/>
        </p:nvSpPr>
        <p:spPr>
          <a:xfrm>
            <a:off x="854926" y="2039112"/>
            <a:ext cx="7831874"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extract_clauses(pdf_path="contract_a.pdf", party_label="company") is called directly in Python.</a:t>
            </a:r>
            <a:endParaRPr lang="en-US" sz="950" dirty="0"/>
          </a:p>
        </p:txBody>
      </p:sp>
      <p:sp>
        <p:nvSpPr>
          <p:cNvPr id="15" name="Shape 13"/>
          <p:cNvSpPr/>
          <p:nvPr/>
        </p:nvSpPr>
        <p:spPr>
          <a:xfrm>
            <a:off x="365760" y="2496312"/>
            <a:ext cx="8412480" cy="658368"/>
          </a:xfrm>
          <a:prstGeom prst="rect">
            <a:avLst/>
          </a:prstGeom>
          <a:solidFill>
            <a:srgbClr val="F8FAFC"/>
          </a:solidFill>
          <a:ln w="12700">
            <a:solidFill>
              <a:srgbClr val="E2E8F0"/>
            </a:solidFill>
            <a:prstDash val="solid"/>
          </a:ln>
        </p:spPr>
        <p:txBody>
          <a:bodyPr/>
          <a:lstStyle/>
          <a:p>
            <a:endParaRPr lang="en-US"/>
          </a:p>
        </p:txBody>
      </p:sp>
      <p:sp>
        <p:nvSpPr>
          <p:cNvPr id="16" name="Shape 14"/>
          <p:cNvSpPr/>
          <p:nvPr/>
        </p:nvSpPr>
        <p:spPr>
          <a:xfrm>
            <a:off x="365760" y="2496312"/>
            <a:ext cx="411480" cy="658368"/>
          </a:xfrm>
          <a:prstGeom prst="rect">
            <a:avLst/>
          </a:prstGeom>
          <a:solidFill>
            <a:srgbClr val="7C3AED"/>
          </a:solidFill>
          <a:ln w="12700">
            <a:solidFill>
              <a:srgbClr val="7C3AED"/>
            </a:solidFill>
            <a:prstDash val="solid"/>
          </a:ln>
        </p:spPr>
        <p:txBody>
          <a:bodyPr/>
          <a:lstStyle/>
          <a:p>
            <a:endParaRPr lang="en-US"/>
          </a:p>
        </p:txBody>
      </p:sp>
      <p:sp>
        <p:nvSpPr>
          <p:cNvPr id="17" name="Text 15"/>
          <p:cNvSpPr/>
          <p:nvPr/>
        </p:nvSpPr>
        <p:spPr>
          <a:xfrm>
            <a:off x="365760" y="2496312"/>
            <a:ext cx="41148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8" name="Text 16"/>
          <p:cNvSpPr/>
          <p:nvPr/>
        </p:nvSpPr>
        <p:spPr>
          <a:xfrm>
            <a:off x="854926" y="2551176"/>
            <a:ext cx="2894114" cy="237744"/>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PyMuPDF opens the PDF</a:t>
            </a:r>
            <a:endParaRPr lang="en-US" sz="1050" dirty="0"/>
          </a:p>
        </p:txBody>
      </p:sp>
      <p:sp>
        <p:nvSpPr>
          <p:cNvPr id="19" name="Text 17"/>
          <p:cNvSpPr/>
          <p:nvPr/>
        </p:nvSpPr>
        <p:spPr>
          <a:xfrm>
            <a:off x="854926" y="2807208"/>
            <a:ext cx="7831874"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fitz.open() reads the file, extracts all text page by page, checks it isn't a scanned image.</a:t>
            </a:r>
            <a:endParaRPr lang="en-US" sz="950" dirty="0"/>
          </a:p>
        </p:txBody>
      </p:sp>
      <p:sp>
        <p:nvSpPr>
          <p:cNvPr id="20" name="Shape 18"/>
          <p:cNvSpPr/>
          <p:nvPr/>
        </p:nvSpPr>
        <p:spPr>
          <a:xfrm>
            <a:off x="365760" y="3264408"/>
            <a:ext cx="8412480" cy="658368"/>
          </a:xfrm>
          <a:prstGeom prst="rect">
            <a:avLst/>
          </a:prstGeom>
          <a:solidFill>
            <a:srgbClr val="F8FAFC"/>
          </a:solidFill>
          <a:ln w="12700">
            <a:solidFill>
              <a:srgbClr val="E2E8F0"/>
            </a:solidFill>
            <a:prstDash val="solid"/>
          </a:ln>
        </p:spPr>
        <p:txBody>
          <a:bodyPr/>
          <a:lstStyle/>
          <a:p>
            <a:endParaRPr lang="en-US"/>
          </a:p>
        </p:txBody>
      </p:sp>
      <p:sp>
        <p:nvSpPr>
          <p:cNvPr id="21" name="Shape 19"/>
          <p:cNvSpPr/>
          <p:nvPr/>
        </p:nvSpPr>
        <p:spPr>
          <a:xfrm>
            <a:off x="365760" y="3264408"/>
            <a:ext cx="411480" cy="658368"/>
          </a:xfrm>
          <a:prstGeom prst="rect">
            <a:avLst/>
          </a:prstGeom>
          <a:solidFill>
            <a:srgbClr val="065A82"/>
          </a:solidFill>
          <a:ln w="12700">
            <a:solidFill>
              <a:srgbClr val="065A82"/>
            </a:solidFill>
            <a:prstDash val="solid"/>
          </a:ln>
        </p:spPr>
        <p:txBody>
          <a:bodyPr/>
          <a:lstStyle/>
          <a:p>
            <a:endParaRPr lang="en-US"/>
          </a:p>
        </p:txBody>
      </p:sp>
      <p:sp>
        <p:nvSpPr>
          <p:cNvPr id="22" name="Text 20"/>
          <p:cNvSpPr/>
          <p:nvPr/>
        </p:nvSpPr>
        <p:spPr>
          <a:xfrm>
            <a:off x="365760" y="3264408"/>
            <a:ext cx="41148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3" name="Text 21"/>
          <p:cNvSpPr/>
          <p:nvPr/>
        </p:nvSpPr>
        <p:spPr>
          <a:xfrm>
            <a:off x="854926" y="3319272"/>
            <a:ext cx="2894114" cy="237744"/>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Split into clauses</a:t>
            </a:r>
            <a:endParaRPr lang="en-US" sz="1050" dirty="0"/>
          </a:p>
        </p:txBody>
      </p:sp>
      <p:sp>
        <p:nvSpPr>
          <p:cNvPr id="24" name="Text 22"/>
          <p:cNvSpPr/>
          <p:nvPr/>
        </p:nvSpPr>
        <p:spPr>
          <a:xfrm>
            <a:off x="854926" y="3575304"/>
            <a:ext cx="7831874"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Regex finds section headings ("3.1 Liability", "Article IV"). Each heading + its text = one clause object.</a:t>
            </a:r>
            <a:endParaRPr lang="en-US" sz="950" dirty="0"/>
          </a:p>
        </p:txBody>
      </p:sp>
      <p:sp>
        <p:nvSpPr>
          <p:cNvPr id="25" name="Shape 23"/>
          <p:cNvSpPr/>
          <p:nvPr/>
        </p:nvSpPr>
        <p:spPr>
          <a:xfrm>
            <a:off x="365760" y="4032504"/>
            <a:ext cx="8412480" cy="658368"/>
          </a:xfrm>
          <a:prstGeom prst="rect">
            <a:avLst/>
          </a:prstGeom>
          <a:solidFill>
            <a:srgbClr val="F8FAFC"/>
          </a:solidFill>
          <a:ln w="12700">
            <a:solidFill>
              <a:srgbClr val="E2E8F0"/>
            </a:solidFill>
            <a:prstDash val="solid"/>
          </a:ln>
        </p:spPr>
        <p:txBody>
          <a:bodyPr/>
          <a:lstStyle/>
          <a:p>
            <a:endParaRPr lang="en-US"/>
          </a:p>
        </p:txBody>
      </p:sp>
      <p:sp>
        <p:nvSpPr>
          <p:cNvPr id="26" name="Shape 24"/>
          <p:cNvSpPr/>
          <p:nvPr/>
        </p:nvSpPr>
        <p:spPr>
          <a:xfrm>
            <a:off x="365760" y="4032504"/>
            <a:ext cx="411480" cy="658368"/>
          </a:xfrm>
          <a:prstGeom prst="rect">
            <a:avLst/>
          </a:prstGeom>
          <a:solidFill>
            <a:srgbClr val="16A34A"/>
          </a:solidFill>
          <a:ln w="12700">
            <a:solidFill>
              <a:srgbClr val="16A34A"/>
            </a:solidFill>
            <a:prstDash val="solid"/>
          </a:ln>
        </p:spPr>
        <p:txBody>
          <a:bodyPr/>
          <a:lstStyle/>
          <a:p>
            <a:endParaRPr lang="en-US"/>
          </a:p>
        </p:txBody>
      </p:sp>
      <p:sp>
        <p:nvSpPr>
          <p:cNvPr id="27" name="Text 25"/>
          <p:cNvSpPr/>
          <p:nvPr/>
        </p:nvSpPr>
        <p:spPr>
          <a:xfrm>
            <a:off x="365760" y="4032504"/>
            <a:ext cx="41148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8" name="Text 26"/>
          <p:cNvSpPr/>
          <p:nvPr/>
        </p:nvSpPr>
        <p:spPr>
          <a:xfrm>
            <a:off x="854926" y="4087368"/>
            <a:ext cx="2894114" cy="237744"/>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Return result to loop</a:t>
            </a:r>
            <a:endParaRPr lang="en-US" sz="1050" dirty="0"/>
          </a:p>
        </p:txBody>
      </p:sp>
      <p:sp>
        <p:nvSpPr>
          <p:cNvPr id="29" name="Text 27"/>
          <p:cNvSpPr/>
          <p:nvPr/>
        </p:nvSpPr>
        <p:spPr>
          <a:xfrm>
            <a:off x="854926" y="4343400"/>
            <a:ext cx="7831874"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 success: true, party: 'company', clause_count: 80, clauses: [...] } is wrapped in a tool_result message and appended to messages[].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5943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Turns 2 &amp; 3 — Read Contract B, Then Think</a:t>
            </a:r>
            <a:endParaRPr lang="en-US" sz="2200" dirty="0"/>
          </a:p>
        </p:txBody>
      </p:sp>
      <p:sp>
        <p:nvSpPr>
          <p:cNvPr id="4" name="Text 2"/>
          <p:cNvSpPr/>
          <p:nvPr/>
        </p:nvSpPr>
        <p:spPr>
          <a:xfrm>
            <a:off x="457200" y="0"/>
            <a:ext cx="8229600" cy="77724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The same pattern repeats, then Claude reasons on its own</a:t>
            </a:r>
            <a:endParaRPr lang="en-US" sz="1000" dirty="0"/>
          </a:p>
        </p:txBody>
      </p:sp>
      <p:sp>
        <p:nvSpPr>
          <p:cNvPr id="5" name="Shape 3"/>
          <p:cNvSpPr/>
          <p:nvPr/>
        </p:nvSpPr>
        <p:spPr>
          <a:xfrm>
            <a:off x="365760" y="960120"/>
            <a:ext cx="3840480" cy="3566160"/>
          </a:xfrm>
          <a:prstGeom prst="rect">
            <a:avLst/>
          </a:prstGeom>
          <a:solidFill>
            <a:srgbClr val="EBF2FB"/>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365760" y="960120"/>
            <a:ext cx="3840480" cy="384048"/>
          </a:xfrm>
          <a:prstGeom prst="rect">
            <a:avLst/>
          </a:prstGeom>
          <a:solidFill>
            <a:srgbClr val="1E3A5F"/>
          </a:solidFill>
          <a:ln w="12700">
            <a:solidFill>
              <a:srgbClr val="1E3A5F"/>
            </a:solidFill>
            <a:prstDash val="solid"/>
          </a:ln>
        </p:spPr>
        <p:txBody>
          <a:bodyPr/>
          <a:lstStyle/>
          <a:p>
            <a:endParaRPr lang="en-US"/>
          </a:p>
        </p:txBody>
      </p:sp>
      <p:sp>
        <p:nvSpPr>
          <p:cNvPr id="7" name="Text 5"/>
          <p:cNvSpPr/>
          <p:nvPr/>
        </p:nvSpPr>
        <p:spPr>
          <a:xfrm>
            <a:off x="457200" y="960120"/>
            <a:ext cx="36576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Turn 2 — Extract Contract B</a:t>
            </a:r>
            <a:endParaRPr lang="en-US" sz="1100" dirty="0"/>
          </a:p>
        </p:txBody>
      </p:sp>
      <p:sp>
        <p:nvSpPr>
          <p:cNvPr id="8" name="Text 6"/>
          <p:cNvSpPr/>
          <p:nvPr/>
        </p:nvSpPr>
        <p:spPr>
          <a:xfrm>
            <a:off x="502920" y="1463040"/>
            <a:ext cx="3566160" cy="1830287"/>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The server sends the updated messages array — now including Contract A's 80 clauses — back to Claude.</a:t>
            </a:r>
            <a:endParaRPr lang="en-US" sz="1050" dirty="0"/>
          </a:p>
          <a:p>
            <a:pPr marL="0" indent="0">
              <a:buNone/>
            </a:pPr>
            <a:endParaRPr lang="en-US" sz="1050" dirty="0"/>
          </a:p>
          <a:p>
            <a:pPr marL="0" indent="0">
              <a:buNone/>
            </a:pPr>
            <a:r>
              <a:rPr lang="en-US" sz="1050" dirty="0">
                <a:solidFill>
                  <a:srgbClr val="0F172A"/>
                </a:solidFill>
                <a:latin typeface="Calibri" pitchFamily="34" charset="0"/>
                <a:ea typeface="Calibri" pitchFamily="34" charset="-122"/>
                <a:cs typeface="Calibri" pitchFamily="34" charset="-120"/>
              </a:rPr>
              <a:t>Claude sees it already has Contract A. It issues the same tool call again, this time for Contract B with party_label: "vendor".</a:t>
            </a:r>
            <a:endParaRPr lang="en-US" sz="1050" dirty="0"/>
          </a:p>
          <a:p>
            <a:pPr marL="0" indent="0">
              <a:buNone/>
            </a:pPr>
            <a:endParaRPr lang="en-US" sz="1050" dirty="0"/>
          </a:p>
          <a:p>
            <a:pPr marL="0" indent="0">
              <a:buNone/>
            </a:pPr>
            <a:r>
              <a:rPr lang="en-US" sz="1050" dirty="0">
                <a:solidFill>
                  <a:srgbClr val="0F172A"/>
                </a:solidFill>
                <a:latin typeface="Calibri" pitchFamily="34" charset="0"/>
                <a:ea typeface="Calibri" pitchFamily="34" charset="-122"/>
                <a:cs typeface="Calibri" pitchFamily="34" charset="-120"/>
              </a:rPr>
              <a:t>Tool dispatch runs again. Contract B's 95 clauses are extracted and appended to messages[].</a:t>
            </a:r>
            <a:endParaRPr lang="en-US" sz="1050" dirty="0"/>
          </a:p>
        </p:txBody>
      </p:sp>
      <p:sp>
        <p:nvSpPr>
          <p:cNvPr id="9" name="Shape 7"/>
          <p:cNvSpPr/>
          <p:nvPr/>
        </p:nvSpPr>
        <p:spPr>
          <a:xfrm>
            <a:off x="502920" y="3611880"/>
            <a:ext cx="3566160" cy="658368"/>
          </a:xfrm>
          <a:prstGeom prst="rect">
            <a:avLst/>
          </a:prstGeom>
          <a:solidFill>
            <a:srgbClr val="0F172A"/>
          </a:solidFill>
          <a:ln w="12700">
            <a:solidFill>
              <a:srgbClr val="1E293B"/>
            </a:solidFill>
            <a:prstDash val="solid"/>
          </a:ln>
        </p:spPr>
        <p:txBody>
          <a:bodyPr/>
          <a:lstStyle/>
          <a:p>
            <a:endParaRPr lang="en-US"/>
          </a:p>
        </p:txBody>
      </p:sp>
      <p:sp>
        <p:nvSpPr>
          <p:cNvPr id="10" name="Text 8"/>
          <p:cNvSpPr/>
          <p:nvPr/>
        </p:nvSpPr>
        <p:spPr>
          <a:xfrm>
            <a:off x="612648" y="3611880"/>
            <a:ext cx="3429000" cy="658368"/>
          </a:xfrm>
          <a:prstGeom prst="rect">
            <a:avLst/>
          </a:prstGeom>
          <a:noFill/>
          <a:ln/>
        </p:spPr>
        <p:txBody>
          <a:bodyPr wrap="square" lIns="0" tIns="0" rIns="0" bIns="0" rtlCol="0" anchor="ctr"/>
          <a:lstStyle/>
          <a:p>
            <a:pPr marL="0" indent="0">
              <a:buNone/>
            </a:pPr>
            <a:r>
              <a:rPr lang="en-US" sz="900" dirty="0">
                <a:solidFill>
                  <a:srgbClr val="7DD3FC"/>
                </a:solidFill>
                <a:latin typeface="Courier New" pitchFamily="34" charset="0"/>
                <a:ea typeface="Courier New" pitchFamily="34" charset="-122"/>
                <a:cs typeface="Courier New" pitchFamily="34" charset="-120"/>
              </a:rPr>
              <a:t>extract_clauses(</a:t>
            </a:r>
            <a:endParaRPr lang="en-US" sz="900" dirty="0"/>
          </a:p>
          <a:p>
            <a:pPr marL="0" indent="0">
              <a:buNone/>
            </a:pPr>
            <a:r>
              <a:rPr lang="en-US" sz="900" dirty="0">
                <a:solidFill>
                  <a:srgbClr val="7DD3FC"/>
                </a:solidFill>
                <a:latin typeface="Courier New" pitchFamily="34" charset="0"/>
                <a:ea typeface="Courier New" pitchFamily="34" charset="-122"/>
                <a:cs typeface="Courier New" pitchFamily="34" charset="-120"/>
              </a:rPr>
              <a:t>  pdf_path: "contract_b.pdf",</a:t>
            </a:r>
            <a:endParaRPr lang="en-US" sz="900" dirty="0"/>
          </a:p>
          <a:p>
            <a:pPr marL="0" indent="0">
              <a:buNone/>
            </a:pPr>
            <a:r>
              <a:rPr lang="en-US" sz="900" dirty="0">
                <a:solidFill>
                  <a:srgbClr val="7DD3FC"/>
                </a:solidFill>
                <a:latin typeface="Courier New" pitchFamily="34" charset="0"/>
                <a:ea typeface="Courier New" pitchFamily="34" charset="-122"/>
                <a:cs typeface="Courier New" pitchFamily="34" charset="-120"/>
              </a:rPr>
              <a:t>  party_label: "vendor"</a:t>
            </a:r>
            <a:endParaRPr lang="en-US" sz="900" dirty="0"/>
          </a:p>
          <a:p>
            <a:pPr marL="0" indent="0">
              <a:buNone/>
            </a:pPr>
            <a:r>
              <a:rPr lang="en-US" sz="900" dirty="0">
                <a:solidFill>
                  <a:srgbClr val="7DD3FC"/>
                </a:solidFill>
                <a:latin typeface="Courier New" pitchFamily="34" charset="0"/>
                <a:ea typeface="Courier New" pitchFamily="34" charset="-122"/>
                <a:cs typeface="Courier New" pitchFamily="34" charset="-120"/>
              </a:rPr>
              <a:t>)</a:t>
            </a:r>
            <a:endParaRPr lang="en-US" sz="900" dirty="0"/>
          </a:p>
        </p:txBody>
      </p:sp>
      <p:sp>
        <p:nvSpPr>
          <p:cNvPr id="11" name="Shape 9"/>
          <p:cNvSpPr/>
          <p:nvPr/>
        </p:nvSpPr>
        <p:spPr>
          <a:xfrm>
            <a:off x="4572000" y="960120"/>
            <a:ext cx="4206240" cy="3566160"/>
          </a:xfrm>
          <a:prstGeom prst="rect">
            <a:avLst/>
          </a:prstGeom>
          <a:solidFill>
            <a:srgbClr val="F5F0FF"/>
          </a:solidFill>
          <a:ln w="12700">
            <a:solidFill>
              <a:srgbClr val="DDD6FE"/>
            </a:solidFill>
            <a:prstDash val="solid"/>
          </a:ln>
          <a:effectLst>
            <a:outerShdw blurRad="101600" dist="25400" dir="8100000" algn="bl" rotWithShape="0">
              <a:srgbClr val="000000">
                <a:alpha val="8000"/>
              </a:srgbClr>
            </a:outerShdw>
          </a:effectLst>
        </p:spPr>
        <p:txBody>
          <a:bodyPr/>
          <a:lstStyle/>
          <a:p>
            <a:endParaRPr lang="en-US"/>
          </a:p>
        </p:txBody>
      </p:sp>
      <p:sp>
        <p:nvSpPr>
          <p:cNvPr id="12" name="Shape 10"/>
          <p:cNvSpPr/>
          <p:nvPr/>
        </p:nvSpPr>
        <p:spPr>
          <a:xfrm>
            <a:off x="4572000" y="960120"/>
            <a:ext cx="4206240" cy="384048"/>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4663440" y="960120"/>
            <a:ext cx="402336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Turn 3 — The Legal Reasoning Happens</a:t>
            </a:r>
            <a:endParaRPr lang="en-US" sz="1100" dirty="0"/>
          </a:p>
        </p:txBody>
      </p:sp>
      <p:sp>
        <p:nvSpPr>
          <p:cNvPr id="14" name="Text 12"/>
          <p:cNvSpPr/>
          <p:nvPr/>
        </p:nvSpPr>
        <p:spPr>
          <a:xfrm>
            <a:off x="4709160" y="1527048"/>
            <a:ext cx="3931920" cy="1947672"/>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Claude now has both clause lists sitting in its context window simultaneously.</a:t>
            </a:r>
            <a:endParaRPr lang="en-US" sz="1050" dirty="0"/>
          </a:p>
          <a:p>
            <a:pPr marL="0" indent="0">
              <a:buNone/>
            </a:pPr>
            <a:endParaRPr lang="en-US" sz="1050" dirty="0"/>
          </a:p>
          <a:p>
            <a:pPr marL="0" indent="0">
              <a:buNone/>
            </a:pPr>
            <a:r>
              <a:rPr lang="en-US" sz="1050" dirty="0">
                <a:solidFill>
                  <a:srgbClr val="0F172A"/>
                </a:solidFill>
                <a:latin typeface="Calibri" pitchFamily="34" charset="0"/>
                <a:ea typeface="Calibri" pitchFamily="34" charset="-122"/>
                <a:cs typeface="Calibri" pitchFamily="34" charset="-120"/>
              </a:rPr>
              <a:t>This is the most important step — and there is no Python code doing the work here. Claude reads every clause from both contracts side by side and reasons through them semantically, the way a lawyer would.</a:t>
            </a:r>
            <a:endParaRPr lang="en-US" sz="1050" dirty="0"/>
          </a:p>
          <a:p>
            <a:pPr marL="0" indent="0">
              <a:buNone/>
            </a:pPr>
            <a:endParaRPr lang="en-US" sz="1050" dirty="0"/>
          </a:p>
          <a:p>
            <a:pPr marL="0" indent="0">
              <a:buNone/>
            </a:pPr>
            <a:r>
              <a:rPr lang="en-US" sz="1050" dirty="0">
                <a:solidFill>
                  <a:srgbClr val="0F172A"/>
                </a:solidFill>
                <a:latin typeface="Calibri" pitchFamily="34" charset="0"/>
                <a:ea typeface="Calibri" pitchFamily="34" charset="-122"/>
                <a:cs typeface="Calibri" pitchFamily="34" charset="-120"/>
              </a:rPr>
              <a:t>It identifies direct contradictions, mismatched obligations, and incompatible rights. Then it calls generate_redline_brief() with the full structured conflict array.</a:t>
            </a:r>
            <a:endParaRPr lang="en-US" sz="1050" dirty="0"/>
          </a:p>
        </p:txBody>
      </p:sp>
      <p:sp>
        <p:nvSpPr>
          <p:cNvPr id="15" name="Shape 13"/>
          <p:cNvSpPr/>
          <p:nvPr/>
        </p:nvSpPr>
        <p:spPr>
          <a:xfrm>
            <a:off x="4709160" y="3749040"/>
            <a:ext cx="3931920" cy="502920"/>
          </a:xfrm>
          <a:prstGeom prst="rect">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4800600" y="3749040"/>
            <a:ext cx="3749040" cy="502920"/>
          </a:xfrm>
          <a:prstGeom prst="rect">
            <a:avLst/>
          </a:prstGeom>
          <a:noFill/>
          <a:ln/>
        </p:spPr>
        <p:txBody>
          <a:bodyPr wrap="square" lIns="0" tIns="0" rIns="0" bIns="0" rtlCol="0" anchor="ctr"/>
          <a:lstStyle/>
          <a:p>
            <a:pPr marL="0" indent="0">
              <a:buNone/>
            </a:pPr>
            <a:r>
              <a:rPr lang="en-US" sz="1000" b="1" i="1" dirty="0">
                <a:solidFill>
                  <a:srgbClr val="FFFFFF"/>
                </a:solidFill>
                <a:latin typeface="Calibri" pitchFamily="34" charset="0"/>
                <a:ea typeface="Calibri" pitchFamily="34" charset="-122"/>
                <a:cs typeface="Calibri" pitchFamily="34" charset="-120"/>
              </a:rPr>
              <a:t>No Python algorithm — Claude's legal reasoning IS the conflict detection.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5943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Turn 4 — Claude Signals It's Done</a:t>
            </a:r>
            <a:endParaRPr lang="en-US" sz="2200" dirty="0"/>
          </a:p>
        </p:txBody>
      </p:sp>
      <p:sp>
        <p:nvSpPr>
          <p:cNvPr id="4" name="Text 2"/>
          <p:cNvSpPr/>
          <p:nvPr/>
        </p:nvSpPr>
        <p:spPr>
          <a:xfrm>
            <a:off x="457200" y="0"/>
            <a:ext cx="8229600" cy="77724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stop_reason: "end_turn"</a:t>
            </a:r>
            <a:endParaRPr lang="en-US" sz="1000" dirty="0"/>
          </a:p>
        </p:txBody>
      </p:sp>
      <p:sp>
        <p:nvSpPr>
          <p:cNvPr id="5" name="Text 3"/>
          <p:cNvSpPr/>
          <p:nvPr/>
        </p:nvSpPr>
        <p:spPr>
          <a:xfrm>
            <a:off x="457200" y="914400"/>
            <a:ext cx="8229600" cy="64008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After generate_redline_brief() returns successfully, the server sends the transcript one final time. Claude sees the report was generated. It responds with a short plain-text message and a stop_reason of "end_turn" — its signal that the task is complete.</a:t>
            </a:r>
            <a:endParaRPr lang="en-US" sz="1100" dirty="0"/>
          </a:p>
        </p:txBody>
      </p:sp>
      <p:sp>
        <p:nvSpPr>
          <p:cNvPr id="6" name="Shape 4"/>
          <p:cNvSpPr/>
          <p:nvPr/>
        </p:nvSpPr>
        <p:spPr>
          <a:xfrm>
            <a:off x="365760" y="1737360"/>
            <a:ext cx="2697480" cy="2046620"/>
          </a:xfrm>
          <a:prstGeom prst="rect">
            <a:avLst/>
          </a:prstGeom>
          <a:solidFill>
            <a:srgbClr val="EBF2FB"/>
          </a:solidFill>
          <a:ln w="9525">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7" name="Shape 5"/>
          <p:cNvSpPr/>
          <p:nvPr/>
        </p:nvSpPr>
        <p:spPr>
          <a:xfrm>
            <a:off x="365760" y="1737360"/>
            <a:ext cx="2697480" cy="402336"/>
          </a:xfrm>
          <a:prstGeom prst="rect">
            <a:avLst/>
          </a:prstGeom>
          <a:solidFill>
            <a:srgbClr val="1E3A5F"/>
          </a:solidFill>
          <a:ln w="12700">
            <a:solidFill>
              <a:srgbClr val="1E3A5F"/>
            </a:solidFill>
            <a:prstDash val="solid"/>
          </a:ln>
        </p:spPr>
        <p:txBody>
          <a:bodyPr/>
          <a:lstStyle/>
          <a:p>
            <a:endParaRPr lang="en-US"/>
          </a:p>
        </p:txBody>
      </p:sp>
      <p:sp>
        <p:nvSpPr>
          <p:cNvPr id="8" name="Text 6"/>
          <p:cNvSpPr/>
          <p:nvPr/>
        </p:nvSpPr>
        <p:spPr>
          <a:xfrm>
            <a:off x="475488" y="1737360"/>
            <a:ext cx="246888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Loop exits</a:t>
            </a:r>
            <a:endParaRPr lang="en-US" sz="1200" dirty="0"/>
          </a:p>
        </p:txBody>
      </p:sp>
      <p:sp>
        <p:nvSpPr>
          <p:cNvPr id="9" name="Text 7"/>
          <p:cNvSpPr/>
          <p:nvPr/>
        </p:nvSpPr>
        <p:spPr>
          <a:xfrm>
            <a:off x="475488" y="2231136"/>
            <a:ext cx="2468880" cy="1366991"/>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The while loop checks stop_reason == "end_turn" and breaks. The 20-turn safety limit is never reached in a healthy run.</a:t>
            </a:r>
            <a:endParaRPr lang="en-US" sz="1050" dirty="0"/>
          </a:p>
        </p:txBody>
      </p:sp>
      <p:sp>
        <p:nvSpPr>
          <p:cNvPr id="10" name="Shape 8"/>
          <p:cNvSpPr/>
          <p:nvPr/>
        </p:nvSpPr>
        <p:spPr>
          <a:xfrm>
            <a:off x="3246120" y="1737360"/>
            <a:ext cx="2697480" cy="2046620"/>
          </a:xfrm>
          <a:prstGeom prst="rect">
            <a:avLst/>
          </a:prstGeom>
          <a:solidFill>
            <a:srgbClr val="F5F0FF"/>
          </a:solidFill>
          <a:ln w="9525">
            <a:solidFill>
              <a:srgbClr val="7C3AED"/>
            </a:solidFill>
            <a:prstDash val="solid"/>
          </a:ln>
          <a:effectLst>
            <a:outerShdw blurRad="101600" dist="25400" dir="8100000" algn="bl" rotWithShape="0">
              <a:srgbClr val="000000">
                <a:alpha val="8000"/>
              </a:srgbClr>
            </a:outerShdw>
          </a:effectLst>
        </p:spPr>
        <p:txBody>
          <a:bodyPr/>
          <a:lstStyle/>
          <a:p>
            <a:endParaRPr lang="en-US"/>
          </a:p>
        </p:txBody>
      </p:sp>
      <p:sp>
        <p:nvSpPr>
          <p:cNvPr id="11" name="Shape 9"/>
          <p:cNvSpPr/>
          <p:nvPr/>
        </p:nvSpPr>
        <p:spPr>
          <a:xfrm>
            <a:off x="3246120" y="1737360"/>
            <a:ext cx="2697480" cy="402336"/>
          </a:xfrm>
          <a:prstGeom prst="rect">
            <a:avLst/>
          </a:prstGeom>
          <a:solidFill>
            <a:srgbClr val="7C3AED"/>
          </a:solidFill>
          <a:ln w="12700">
            <a:solidFill>
              <a:srgbClr val="7C3AED"/>
            </a:solidFill>
            <a:prstDash val="solid"/>
          </a:ln>
        </p:spPr>
        <p:txBody>
          <a:bodyPr/>
          <a:lstStyle/>
          <a:p>
            <a:endParaRPr lang="en-US"/>
          </a:p>
        </p:txBody>
      </p:sp>
      <p:sp>
        <p:nvSpPr>
          <p:cNvPr id="12" name="Text 10"/>
          <p:cNvSpPr/>
          <p:nvPr/>
        </p:nvSpPr>
        <p:spPr>
          <a:xfrm>
            <a:off x="3355848" y="1737360"/>
            <a:ext cx="246888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SSE fires to browser</a:t>
            </a:r>
            <a:endParaRPr lang="en-US" sz="1200" dirty="0"/>
          </a:p>
        </p:txBody>
      </p:sp>
      <p:sp>
        <p:nvSpPr>
          <p:cNvPr id="13" name="Text 11"/>
          <p:cNvSpPr/>
          <p:nvPr/>
        </p:nvSpPr>
        <p:spPr>
          <a:xfrm>
            <a:off x="3355848" y="2231136"/>
            <a:ext cx="2468880" cy="1474043"/>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The server emits a "complete" Server-Sent Event carrying the full redline_report as JSON. The browser receives it and renders the results.</a:t>
            </a:r>
            <a:endParaRPr lang="en-US" sz="1050" dirty="0"/>
          </a:p>
        </p:txBody>
      </p:sp>
      <p:sp>
        <p:nvSpPr>
          <p:cNvPr id="14" name="Shape 12"/>
          <p:cNvSpPr/>
          <p:nvPr/>
        </p:nvSpPr>
        <p:spPr>
          <a:xfrm>
            <a:off x="6126480" y="1737360"/>
            <a:ext cx="2697480" cy="2046620"/>
          </a:xfrm>
          <a:prstGeom prst="rect">
            <a:avLst/>
          </a:prstGeom>
          <a:solidFill>
            <a:srgbClr val="F0FDF4"/>
          </a:solidFill>
          <a:ln w="9525">
            <a:solidFill>
              <a:srgbClr val="16A34A"/>
            </a:solidFill>
            <a:prstDash val="solid"/>
          </a:ln>
          <a:effectLst>
            <a:outerShdw blurRad="101600" dist="25400" dir="8100000" algn="bl" rotWithShape="0">
              <a:srgbClr val="000000">
                <a:alpha val="8000"/>
              </a:srgbClr>
            </a:outerShdw>
          </a:effectLst>
        </p:spPr>
        <p:txBody>
          <a:bodyPr/>
          <a:lstStyle/>
          <a:p>
            <a:endParaRPr lang="en-US"/>
          </a:p>
        </p:txBody>
      </p:sp>
      <p:sp>
        <p:nvSpPr>
          <p:cNvPr id="15" name="Shape 13"/>
          <p:cNvSpPr/>
          <p:nvPr/>
        </p:nvSpPr>
        <p:spPr>
          <a:xfrm>
            <a:off x="6126480" y="1737360"/>
            <a:ext cx="2697480" cy="402336"/>
          </a:xfrm>
          <a:prstGeom prst="rect">
            <a:avLst/>
          </a:prstGeom>
          <a:solidFill>
            <a:srgbClr val="16A34A"/>
          </a:solidFill>
          <a:ln w="12700">
            <a:solidFill>
              <a:srgbClr val="16A34A"/>
            </a:solidFill>
            <a:prstDash val="solid"/>
          </a:ln>
        </p:spPr>
        <p:txBody>
          <a:bodyPr/>
          <a:lstStyle/>
          <a:p>
            <a:endParaRPr lang="en-US"/>
          </a:p>
        </p:txBody>
      </p:sp>
      <p:sp>
        <p:nvSpPr>
          <p:cNvPr id="16" name="Text 14"/>
          <p:cNvSpPr/>
          <p:nvPr/>
        </p:nvSpPr>
        <p:spPr>
          <a:xfrm>
            <a:off x="6236208" y="1737360"/>
            <a:ext cx="246888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Files deleted</a:t>
            </a:r>
            <a:endParaRPr lang="en-US" sz="1200" dirty="0"/>
          </a:p>
        </p:txBody>
      </p:sp>
      <p:sp>
        <p:nvSpPr>
          <p:cNvPr id="17" name="Text 15"/>
          <p:cNvSpPr/>
          <p:nvPr/>
        </p:nvSpPr>
        <p:spPr>
          <a:xfrm>
            <a:off x="6236208" y="2231136"/>
            <a:ext cx="2468880" cy="1423862"/>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The finally block runs shutil.rmtree() on the session folder. Uploaded PDFs are gone — whether the run succeeded, hit an error, or the tab closed.</a:t>
            </a:r>
            <a:endParaRPr lang="en-US" sz="1050" dirty="0"/>
          </a:p>
        </p:txBody>
      </p:sp>
      <p:sp>
        <p:nvSpPr>
          <p:cNvPr id="18" name="Shape 16"/>
          <p:cNvSpPr/>
          <p:nvPr/>
        </p:nvSpPr>
        <p:spPr>
          <a:xfrm>
            <a:off x="365760" y="3888059"/>
            <a:ext cx="8458200" cy="1122853"/>
          </a:xfrm>
          <a:prstGeom prst="rect">
            <a:avLst/>
          </a:prstGeom>
          <a:solidFill>
            <a:srgbClr val="0F172A"/>
          </a:solidFill>
          <a:ln w="12700">
            <a:solidFill>
              <a:srgbClr val="1E293B"/>
            </a:solidFill>
            <a:prstDash val="solid"/>
          </a:ln>
        </p:spPr>
        <p:txBody>
          <a:bodyPr/>
          <a:lstStyle/>
          <a:p>
            <a:endParaRPr lang="en-US"/>
          </a:p>
        </p:txBody>
      </p:sp>
      <p:sp>
        <p:nvSpPr>
          <p:cNvPr id="19" name="Text 17"/>
          <p:cNvSpPr/>
          <p:nvPr/>
        </p:nvSpPr>
        <p:spPr>
          <a:xfrm>
            <a:off x="502920" y="4247499"/>
            <a:ext cx="8275320" cy="530352"/>
          </a:xfrm>
          <a:prstGeom prst="rect">
            <a:avLst/>
          </a:prstGeom>
          <a:noFill/>
          <a:ln/>
        </p:spPr>
        <p:txBody>
          <a:bodyPr wrap="square" lIns="0" tIns="0" rIns="0" bIns="0" rtlCol="0" anchor="ctr"/>
          <a:lstStyle/>
          <a:p>
            <a:pPr marL="0" indent="0">
              <a:buNone/>
            </a:pPr>
            <a:r>
              <a:rPr lang="en-US" sz="900" dirty="0">
                <a:solidFill>
                  <a:srgbClr val="7DD3FC"/>
                </a:solidFill>
                <a:latin typeface="Courier New" pitchFamily="34" charset="0"/>
                <a:ea typeface="Courier New" pitchFamily="34" charset="-122"/>
                <a:cs typeface="Courier New" pitchFamily="34" charset="-120"/>
              </a:rPr>
              <a:t>if response.stop_reason == "end_turn":</a:t>
            </a:r>
            <a:endParaRPr lang="en-US" sz="900" dirty="0"/>
          </a:p>
          <a:p>
            <a:pPr marL="0" indent="0">
              <a:buNone/>
            </a:pPr>
            <a:r>
              <a:rPr lang="en-US" sz="900" dirty="0">
                <a:solidFill>
                  <a:srgbClr val="7DD3FC"/>
                </a:solidFill>
                <a:latin typeface="Courier New" pitchFamily="34" charset="0"/>
                <a:ea typeface="Courier New" pitchFamily="34" charset="-122"/>
                <a:cs typeface="Courier New" pitchFamily="34" charset="-120"/>
              </a:rPr>
              <a:t>    yield sse("complete", redline_report)</a:t>
            </a:r>
            <a:endParaRPr lang="en-US" sz="900" dirty="0"/>
          </a:p>
          <a:p>
            <a:pPr marL="0" indent="0">
              <a:buNone/>
            </a:pPr>
            <a:r>
              <a:rPr lang="en-US" sz="900" dirty="0">
                <a:solidFill>
                  <a:srgbClr val="7DD3FC"/>
                </a:solidFill>
                <a:latin typeface="Courier New" pitchFamily="34" charset="0"/>
                <a:ea typeface="Courier New" pitchFamily="34" charset="-122"/>
                <a:cs typeface="Courier New" pitchFamily="34" charset="-120"/>
              </a:rPr>
              <a:t>    return</a:t>
            </a:r>
            <a:endParaRPr lang="en-US" sz="900" dirty="0"/>
          </a:p>
          <a:p>
            <a:pPr marL="0" indent="0">
              <a:buNone/>
            </a:pPr>
            <a:endParaRPr lang="en-US" sz="900" dirty="0"/>
          </a:p>
          <a:p>
            <a:pPr marL="0" indent="0">
              <a:buNone/>
            </a:pPr>
            <a:r>
              <a:rPr lang="en-US" sz="900" dirty="0">
                <a:solidFill>
                  <a:srgbClr val="7DD3FC"/>
                </a:solidFill>
                <a:latin typeface="Courier New" pitchFamily="34" charset="0"/>
                <a:ea typeface="Courier New" pitchFamily="34" charset="-122"/>
                <a:cs typeface="Courier New" pitchFamily="34" charset="-120"/>
              </a:rPr>
              <a:t># finally block always runs:</a:t>
            </a:r>
            <a:endParaRPr lang="en-US" sz="900" dirty="0"/>
          </a:p>
          <a:p>
            <a:pPr marL="0" indent="0">
              <a:buNone/>
            </a:pPr>
            <a:r>
              <a:rPr lang="en-US" sz="900" dirty="0">
                <a:solidFill>
                  <a:srgbClr val="7DD3FC"/>
                </a:solidFill>
                <a:latin typeface="Courier New" pitchFamily="34" charset="0"/>
                <a:ea typeface="Courier New" pitchFamily="34" charset="-122"/>
                <a:cs typeface="Courier New" pitchFamily="34" charset="-120"/>
              </a:rPr>
              <a:t>finally:</a:t>
            </a:r>
            <a:endParaRPr lang="en-US" sz="900" dirty="0"/>
          </a:p>
          <a:p>
            <a:pPr marL="0" indent="0">
              <a:buNone/>
            </a:pPr>
            <a:r>
              <a:rPr lang="en-US" sz="900" dirty="0">
                <a:solidFill>
                  <a:srgbClr val="7DD3FC"/>
                </a:solidFill>
                <a:latin typeface="Courier New" pitchFamily="34" charset="0"/>
                <a:ea typeface="Courier New" pitchFamily="34" charset="-122"/>
                <a:cs typeface="Courier New" pitchFamily="34" charset="-120"/>
              </a:rPr>
              <a:t>    shutil.rmtree(session_dir, ignore_errors=True)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5943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Full Loop — End to End</a:t>
            </a:r>
            <a:endParaRPr lang="en-US" sz="2200" dirty="0"/>
          </a:p>
        </p:txBody>
      </p:sp>
      <p:sp>
        <p:nvSpPr>
          <p:cNvPr id="4" name="Text 2"/>
          <p:cNvSpPr/>
          <p:nvPr/>
        </p:nvSpPr>
        <p:spPr>
          <a:xfrm>
            <a:off x="457200" y="0"/>
            <a:ext cx="8229600" cy="777240"/>
          </a:xfrm>
          <a:prstGeom prst="rect">
            <a:avLst/>
          </a:prstGeom>
          <a:noFill/>
          <a:ln/>
        </p:spPr>
        <p:txBody>
          <a:bodyPr wrap="square" lIns="0" tIns="0" rIns="0" bIns="0"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4 turns · 3 tool dispatches · 1 report</a:t>
            </a:r>
            <a:endParaRPr lang="en-US" sz="1000" dirty="0"/>
          </a:p>
        </p:txBody>
      </p:sp>
      <p:sp>
        <p:nvSpPr>
          <p:cNvPr id="5" name="Shape 3"/>
          <p:cNvSpPr/>
          <p:nvPr/>
        </p:nvSpPr>
        <p:spPr>
          <a:xfrm>
            <a:off x="365760" y="960120"/>
            <a:ext cx="8412480" cy="384048"/>
          </a:xfrm>
          <a:prstGeom prst="rect">
            <a:avLst/>
          </a:prstGeom>
          <a:solidFill>
            <a:srgbClr val="162D4A"/>
          </a:solidFill>
          <a:ln w="12700">
            <a:solidFill>
              <a:srgbClr val="243F60"/>
            </a:solidFill>
            <a:prstDash val="solid"/>
          </a:ln>
        </p:spPr>
        <p:txBody>
          <a:bodyPr/>
          <a:lstStyle/>
          <a:p>
            <a:endParaRPr lang="en-US"/>
          </a:p>
        </p:txBody>
      </p:sp>
      <p:sp>
        <p:nvSpPr>
          <p:cNvPr id="6" name="Shape 4"/>
          <p:cNvSpPr/>
          <p:nvPr/>
        </p:nvSpPr>
        <p:spPr>
          <a:xfrm>
            <a:off x="365760" y="960120"/>
            <a:ext cx="960120" cy="384048"/>
          </a:xfrm>
          <a:prstGeom prst="rect">
            <a:avLst/>
          </a:prstGeom>
          <a:solidFill>
            <a:srgbClr val="000000"/>
          </a:solidFill>
          <a:ln w="12700">
            <a:solidFill>
              <a:srgbClr val="000000"/>
            </a:solidFill>
            <a:prstDash val="solid"/>
          </a:ln>
        </p:spPr>
        <p:txBody>
          <a:bodyPr/>
          <a:lstStyle/>
          <a:p>
            <a:endParaRPr lang="en-US"/>
          </a:p>
        </p:txBody>
      </p:sp>
      <p:sp>
        <p:nvSpPr>
          <p:cNvPr id="7" name="Text 5"/>
          <p:cNvSpPr/>
          <p:nvPr/>
        </p:nvSpPr>
        <p:spPr>
          <a:xfrm>
            <a:off x="365760" y="960120"/>
            <a:ext cx="960120" cy="384048"/>
          </a:xfrm>
          <a:prstGeom prst="rect">
            <a:avLst/>
          </a:prstGeom>
          <a:noFill/>
          <a:ln/>
        </p:spPr>
        <p:txBody>
          <a:bodyPr wrap="square" lIns="0" tIns="0" rIns="0" bIns="0" rtlCol="0" anchor="ctr"/>
          <a:lstStyle/>
          <a:p>
            <a:pPr marL="0" indent="0" algn="ctr">
              <a:buNone/>
            </a:pPr>
            <a:r>
              <a:rPr lang="en-US" sz="750" b="1" dirty="0">
                <a:solidFill>
                  <a:srgbClr val="2D5282"/>
                </a:solidFill>
                <a:latin typeface="Calibri" pitchFamily="34" charset="0"/>
                <a:ea typeface="Calibri" pitchFamily="34" charset="-122"/>
                <a:cs typeface="Calibri" pitchFamily="34" charset="-120"/>
              </a:rPr>
              <a:t>SERVER</a:t>
            </a:r>
            <a:endParaRPr lang="en-US" sz="750" dirty="0"/>
          </a:p>
        </p:txBody>
      </p:sp>
      <p:sp>
        <p:nvSpPr>
          <p:cNvPr id="8" name="Text 6"/>
          <p:cNvSpPr/>
          <p:nvPr/>
        </p:nvSpPr>
        <p:spPr>
          <a:xfrm>
            <a:off x="1417320" y="9601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messages[ ] → Claude: "Analyze contract_a.pdf and contract_b.pdf"</a:t>
            </a:r>
            <a:endParaRPr lang="en-US" sz="950" dirty="0"/>
          </a:p>
        </p:txBody>
      </p:sp>
      <p:sp>
        <p:nvSpPr>
          <p:cNvPr id="9" name="Shape 7"/>
          <p:cNvSpPr/>
          <p:nvPr/>
        </p:nvSpPr>
        <p:spPr>
          <a:xfrm>
            <a:off x="365760" y="1417320"/>
            <a:ext cx="8412480" cy="384048"/>
          </a:xfrm>
          <a:prstGeom prst="rect">
            <a:avLst/>
          </a:prstGeom>
          <a:solidFill>
            <a:srgbClr val="1E1040"/>
          </a:solidFill>
          <a:ln w="12700">
            <a:solidFill>
              <a:srgbClr val="243F60"/>
            </a:solidFill>
            <a:prstDash val="solid"/>
          </a:ln>
        </p:spPr>
        <p:txBody>
          <a:bodyPr/>
          <a:lstStyle/>
          <a:p>
            <a:endParaRPr lang="en-US"/>
          </a:p>
        </p:txBody>
      </p:sp>
      <p:sp>
        <p:nvSpPr>
          <p:cNvPr id="10" name="Shape 8"/>
          <p:cNvSpPr/>
          <p:nvPr/>
        </p:nvSpPr>
        <p:spPr>
          <a:xfrm>
            <a:off x="365760" y="1417320"/>
            <a:ext cx="960120" cy="384048"/>
          </a:xfrm>
          <a:prstGeom prst="rect">
            <a:avLst/>
          </a:prstGeom>
          <a:solidFill>
            <a:srgbClr val="000000"/>
          </a:solidFill>
          <a:ln w="12700">
            <a:solidFill>
              <a:srgbClr val="000000"/>
            </a:solidFill>
            <a:prstDash val="solid"/>
          </a:ln>
        </p:spPr>
        <p:txBody>
          <a:bodyPr/>
          <a:lstStyle/>
          <a:p>
            <a:endParaRPr lang="en-US"/>
          </a:p>
        </p:txBody>
      </p:sp>
      <p:sp>
        <p:nvSpPr>
          <p:cNvPr id="11" name="Text 9"/>
          <p:cNvSpPr/>
          <p:nvPr/>
        </p:nvSpPr>
        <p:spPr>
          <a:xfrm>
            <a:off x="365760" y="1417320"/>
            <a:ext cx="960120" cy="384048"/>
          </a:xfrm>
          <a:prstGeom prst="rect">
            <a:avLst/>
          </a:prstGeom>
          <a:noFill/>
          <a:ln/>
        </p:spPr>
        <p:txBody>
          <a:bodyPr wrap="square" lIns="0" tIns="0" rIns="0" bIns="0" rtlCol="0" anchor="ctr"/>
          <a:lstStyle/>
          <a:p>
            <a:pPr marL="0" indent="0" algn="ctr">
              <a:buNone/>
            </a:pPr>
            <a:r>
              <a:rPr lang="en-US" sz="750" b="1" dirty="0">
                <a:solidFill>
                  <a:srgbClr val="7C3AED"/>
                </a:solidFill>
                <a:latin typeface="Calibri" pitchFamily="34" charset="0"/>
                <a:ea typeface="Calibri" pitchFamily="34" charset="-122"/>
                <a:cs typeface="Calibri" pitchFamily="34" charset="-120"/>
              </a:rPr>
              <a:t>CLAUDE</a:t>
            </a:r>
            <a:endParaRPr lang="en-US" sz="750" dirty="0"/>
          </a:p>
        </p:txBody>
      </p:sp>
      <p:sp>
        <p:nvSpPr>
          <p:cNvPr id="12" name="Text 10"/>
          <p:cNvSpPr/>
          <p:nvPr/>
        </p:nvSpPr>
        <p:spPr>
          <a:xfrm>
            <a:off x="1417320" y="14173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stop_reason: tool_use  →  extract_clauses(contract_a.pdf, "company")</a:t>
            </a:r>
            <a:endParaRPr lang="en-US" sz="950" dirty="0"/>
          </a:p>
        </p:txBody>
      </p:sp>
      <p:sp>
        <p:nvSpPr>
          <p:cNvPr id="13" name="Shape 11"/>
          <p:cNvSpPr/>
          <p:nvPr/>
        </p:nvSpPr>
        <p:spPr>
          <a:xfrm>
            <a:off x="365760" y="1874520"/>
            <a:ext cx="8412480" cy="384048"/>
          </a:xfrm>
          <a:prstGeom prst="rect">
            <a:avLst/>
          </a:prstGeom>
          <a:solidFill>
            <a:srgbClr val="162D4A"/>
          </a:solidFill>
          <a:ln w="12700">
            <a:solidFill>
              <a:srgbClr val="243F60"/>
            </a:solidFill>
            <a:prstDash val="solid"/>
          </a:ln>
        </p:spPr>
        <p:txBody>
          <a:bodyPr/>
          <a:lstStyle/>
          <a:p>
            <a:endParaRPr lang="en-US"/>
          </a:p>
        </p:txBody>
      </p:sp>
      <p:sp>
        <p:nvSpPr>
          <p:cNvPr id="14" name="Shape 12"/>
          <p:cNvSpPr/>
          <p:nvPr/>
        </p:nvSpPr>
        <p:spPr>
          <a:xfrm>
            <a:off x="365760" y="1874520"/>
            <a:ext cx="960120" cy="384048"/>
          </a:xfrm>
          <a:prstGeom prst="rect">
            <a:avLst/>
          </a:prstGeom>
          <a:solidFill>
            <a:srgbClr val="000000"/>
          </a:solidFill>
          <a:ln w="12700">
            <a:solidFill>
              <a:srgbClr val="000000"/>
            </a:solidFill>
            <a:prstDash val="solid"/>
          </a:ln>
        </p:spPr>
        <p:txBody>
          <a:bodyPr/>
          <a:lstStyle/>
          <a:p>
            <a:endParaRPr lang="en-US"/>
          </a:p>
        </p:txBody>
      </p:sp>
      <p:sp>
        <p:nvSpPr>
          <p:cNvPr id="15" name="Text 13"/>
          <p:cNvSpPr/>
          <p:nvPr/>
        </p:nvSpPr>
        <p:spPr>
          <a:xfrm>
            <a:off x="365760" y="1874520"/>
            <a:ext cx="960120" cy="384048"/>
          </a:xfrm>
          <a:prstGeom prst="rect">
            <a:avLst/>
          </a:prstGeom>
          <a:noFill/>
          <a:ln/>
        </p:spPr>
        <p:txBody>
          <a:bodyPr wrap="square" lIns="0" tIns="0" rIns="0" bIns="0" rtlCol="0" anchor="ctr"/>
          <a:lstStyle/>
          <a:p>
            <a:pPr marL="0" indent="0" algn="ctr">
              <a:buNone/>
            </a:pPr>
            <a:r>
              <a:rPr lang="en-US" sz="750" b="1" dirty="0">
                <a:solidFill>
                  <a:srgbClr val="2D5282"/>
                </a:solidFill>
                <a:latin typeface="Calibri" pitchFamily="34" charset="0"/>
                <a:ea typeface="Calibri" pitchFamily="34" charset="-122"/>
                <a:cs typeface="Calibri" pitchFamily="34" charset="-120"/>
              </a:rPr>
              <a:t>SERVER</a:t>
            </a:r>
            <a:endParaRPr lang="en-US" sz="750" dirty="0"/>
          </a:p>
        </p:txBody>
      </p:sp>
      <p:sp>
        <p:nvSpPr>
          <p:cNvPr id="16" name="Text 14"/>
          <p:cNvSpPr/>
          <p:nvPr/>
        </p:nvSpPr>
        <p:spPr>
          <a:xfrm>
            <a:off x="1417320" y="18745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tool_result → { success: true, clause_count: 80, clauses: [...] }</a:t>
            </a:r>
            <a:endParaRPr lang="en-US" sz="950" dirty="0"/>
          </a:p>
        </p:txBody>
      </p:sp>
      <p:sp>
        <p:nvSpPr>
          <p:cNvPr id="17" name="Shape 15"/>
          <p:cNvSpPr/>
          <p:nvPr/>
        </p:nvSpPr>
        <p:spPr>
          <a:xfrm>
            <a:off x="365760" y="2331720"/>
            <a:ext cx="8412480" cy="384048"/>
          </a:xfrm>
          <a:prstGeom prst="rect">
            <a:avLst/>
          </a:prstGeom>
          <a:solidFill>
            <a:srgbClr val="1E1040"/>
          </a:solidFill>
          <a:ln w="12700">
            <a:solidFill>
              <a:srgbClr val="243F60"/>
            </a:solidFill>
            <a:prstDash val="solid"/>
          </a:ln>
        </p:spPr>
        <p:txBody>
          <a:bodyPr/>
          <a:lstStyle/>
          <a:p>
            <a:endParaRPr lang="en-US"/>
          </a:p>
        </p:txBody>
      </p:sp>
      <p:sp>
        <p:nvSpPr>
          <p:cNvPr id="18" name="Shape 16"/>
          <p:cNvSpPr/>
          <p:nvPr/>
        </p:nvSpPr>
        <p:spPr>
          <a:xfrm>
            <a:off x="365760" y="2331720"/>
            <a:ext cx="960120" cy="384048"/>
          </a:xfrm>
          <a:prstGeom prst="rect">
            <a:avLst/>
          </a:prstGeom>
          <a:solidFill>
            <a:srgbClr val="000000"/>
          </a:solidFill>
          <a:ln w="12700">
            <a:solidFill>
              <a:srgbClr val="000000"/>
            </a:solidFill>
            <a:prstDash val="solid"/>
          </a:ln>
        </p:spPr>
        <p:txBody>
          <a:bodyPr/>
          <a:lstStyle/>
          <a:p>
            <a:endParaRPr lang="en-US"/>
          </a:p>
        </p:txBody>
      </p:sp>
      <p:sp>
        <p:nvSpPr>
          <p:cNvPr id="19" name="Text 17"/>
          <p:cNvSpPr/>
          <p:nvPr/>
        </p:nvSpPr>
        <p:spPr>
          <a:xfrm>
            <a:off x="365760" y="2331720"/>
            <a:ext cx="960120" cy="384048"/>
          </a:xfrm>
          <a:prstGeom prst="rect">
            <a:avLst/>
          </a:prstGeom>
          <a:noFill/>
          <a:ln/>
        </p:spPr>
        <p:txBody>
          <a:bodyPr wrap="square" lIns="0" tIns="0" rIns="0" bIns="0" rtlCol="0" anchor="ctr"/>
          <a:lstStyle/>
          <a:p>
            <a:pPr marL="0" indent="0" algn="ctr">
              <a:buNone/>
            </a:pPr>
            <a:r>
              <a:rPr lang="en-US" sz="750" b="1" dirty="0">
                <a:solidFill>
                  <a:srgbClr val="7C3AED"/>
                </a:solidFill>
                <a:latin typeface="Calibri" pitchFamily="34" charset="0"/>
                <a:ea typeface="Calibri" pitchFamily="34" charset="-122"/>
                <a:cs typeface="Calibri" pitchFamily="34" charset="-120"/>
              </a:rPr>
              <a:t>CLAUDE</a:t>
            </a:r>
            <a:endParaRPr lang="en-US" sz="750" dirty="0"/>
          </a:p>
        </p:txBody>
      </p:sp>
      <p:sp>
        <p:nvSpPr>
          <p:cNvPr id="20" name="Text 18"/>
          <p:cNvSpPr/>
          <p:nvPr/>
        </p:nvSpPr>
        <p:spPr>
          <a:xfrm>
            <a:off x="1417320" y="23317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stop_reason: tool_use  →  extract_clauses(contract_b.pdf, "vendor")</a:t>
            </a:r>
            <a:endParaRPr lang="en-US" sz="950" dirty="0"/>
          </a:p>
        </p:txBody>
      </p:sp>
      <p:sp>
        <p:nvSpPr>
          <p:cNvPr id="21" name="Shape 19"/>
          <p:cNvSpPr/>
          <p:nvPr/>
        </p:nvSpPr>
        <p:spPr>
          <a:xfrm>
            <a:off x="365760" y="2788920"/>
            <a:ext cx="8412480" cy="384048"/>
          </a:xfrm>
          <a:prstGeom prst="rect">
            <a:avLst/>
          </a:prstGeom>
          <a:solidFill>
            <a:srgbClr val="162D4A"/>
          </a:solidFill>
          <a:ln w="12700">
            <a:solidFill>
              <a:srgbClr val="243F60"/>
            </a:solidFill>
            <a:prstDash val="solid"/>
          </a:ln>
        </p:spPr>
        <p:txBody>
          <a:bodyPr/>
          <a:lstStyle/>
          <a:p>
            <a:endParaRPr lang="en-US"/>
          </a:p>
        </p:txBody>
      </p:sp>
      <p:sp>
        <p:nvSpPr>
          <p:cNvPr id="22" name="Shape 20"/>
          <p:cNvSpPr/>
          <p:nvPr/>
        </p:nvSpPr>
        <p:spPr>
          <a:xfrm>
            <a:off x="365760" y="2788920"/>
            <a:ext cx="960120" cy="384048"/>
          </a:xfrm>
          <a:prstGeom prst="rect">
            <a:avLst/>
          </a:prstGeom>
          <a:solidFill>
            <a:srgbClr val="000000"/>
          </a:solidFill>
          <a:ln w="12700">
            <a:solidFill>
              <a:srgbClr val="000000"/>
            </a:solidFill>
            <a:prstDash val="solid"/>
          </a:ln>
        </p:spPr>
        <p:txBody>
          <a:bodyPr/>
          <a:lstStyle/>
          <a:p>
            <a:endParaRPr lang="en-US"/>
          </a:p>
        </p:txBody>
      </p:sp>
      <p:sp>
        <p:nvSpPr>
          <p:cNvPr id="23" name="Text 21"/>
          <p:cNvSpPr/>
          <p:nvPr/>
        </p:nvSpPr>
        <p:spPr>
          <a:xfrm>
            <a:off x="365760" y="2788920"/>
            <a:ext cx="960120" cy="384048"/>
          </a:xfrm>
          <a:prstGeom prst="rect">
            <a:avLst/>
          </a:prstGeom>
          <a:noFill/>
          <a:ln/>
        </p:spPr>
        <p:txBody>
          <a:bodyPr wrap="square" lIns="0" tIns="0" rIns="0" bIns="0" rtlCol="0" anchor="ctr"/>
          <a:lstStyle/>
          <a:p>
            <a:pPr marL="0" indent="0" algn="ctr">
              <a:buNone/>
            </a:pPr>
            <a:r>
              <a:rPr lang="en-US" sz="750" b="1" dirty="0">
                <a:solidFill>
                  <a:srgbClr val="2D5282"/>
                </a:solidFill>
                <a:latin typeface="Calibri" pitchFamily="34" charset="0"/>
                <a:ea typeface="Calibri" pitchFamily="34" charset="-122"/>
                <a:cs typeface="Calibri" pitchFamily="34" charset="-120"/>
              </a:rPr>
              <a:t>SERVER</a:t>
            </a:r>
            <a:endParaRPr lang="en-US" sz="750" dirty="0"/>
          </a:p>
        </p:txBody>
      </p:sp>
      <p:sp>
        <p:nvSpPr>
          <p:cNvPr id="24" name="Text 22"/>
          <p:cNvSpPr/>
          <p:nvPr/>
        </p:nvSpPr>
        <p:spPr>
          <a:xfrm>
            <a:off x="1417320" y="27889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tool_result → { success: true, clause_count: 95, clauses: [...] }</a:t>
            </a:r>
            <a:endParaRPr lang="en-US" sz="950" dirty="0"/>
          </a:p>
        </p:txBody>
      </p:sp>
      <p:sp>
        <p:nvSpPr>
          <p:cNvPr id="25" name="Shape 23"/>
          <p:cNvSpPr/>
          <p:nvPr/>
        </p:nvSpPr>
        <p:spPr>
          <a:xfrm>
            <a:off x="365760" y="3246120"/>
            <a:ext cx="8412480" cy="384048"/>
          </a:xfrm>
          <a:prstGeom prst="rect">
            <a:avLst/>
          </a:prstGeom>
          <a:solidFill>
            <a:srgbClr val="1E1040"/>
          </a:solidFill>
          <a:ln w="12700">
            <a:solidFill>
              <a:srgbClr val="243F60"/>
            </a:solidFill>
            <a:prstDash val="solid"/>
          </a:ln>
        </p:spPr>
        <p:txBody>
          <a:bodyPr/>
          <a:lstStyle/>
          <a:p>
            <a:endParaRPr lang="en-US"/>
          </a:p>
        </p:txBody>
      </p:sp>
      <p:sp>
        <p:nvSpPr>
          <p:cNvPr id="26" name="Shape 24"/>
          <p:cNvSpPr/>
          <p:nvPr/>
        </p:nvSpPr>
        <p:spPr>
          <a:xfrm>
            <a:off x="365760" y="3246120"/>
            <a:ext cx="960120" cy="384048"/>
          </a:xfrm>
          <a:prstGeom prst="rect">
            <a:avLst/>
          </a:prstGeom>
          <a:solidFill>
            <a:srgbClr val="000000"/>
          </a:solidFill>
          <a:ln w="12700">
            <a:solidFill>
              <a:srgbClr val="000000"/>
            </a:solidFill>
            <a:prstDash val="solid"/>
          </a:ln>
        </p:spPr>
        <p:txBody>
          <a:bodyPr/>
          <a:lstStyle/>
          <a:p>
            <a:endParaRPr lang="en-US"/>
          </a:p>
        </p:txBody>
      </p:sp>
      <p:sp>
        <p:nvSpPr>
          <p:cNvPr id="27" name="Text 25"/>
          <p:cNvSpPr/>
          <p:nvPr/>
        </p:nvSpPr>
        <p:spPr>
          <a:xfrm>
            <a:off x="365760" y="3246120"/>
            <a:ext cx="960120" cy="384048"/>
          </a:xfrm>
          <a:prstGeom prst="rect">
            <a:avLst/>
          </a:prstGeom>
          <a:noFill/>
          <a:ln/>
        </p:spPr>
        <p:txBody>
          <a:bodyPr wrap="square" lIns="0" tIns="0" rIns="0" bIns="0" rtlCol="0" anchor="ctr"/>
          <a:lstStyle/>
          <a:p>
            <a:pPr marL="0" indent="0" algn="ctr">
              <a:buNone/>
            </a:pPr>
            <a:r>
              <a:rPr lang="en-US" sz="750" b="1" dirty="0">
                <a:solidFill>
                  <a:srgbClr val="7C3AED"/>
                </a:solidFill>
                <a:latin typeface="Calibri" pitchFamily="34" charset="0"/>
                <a:ea typeface="Calibri" pitchFamily="34" charset="-122"/>
                <a:cs typeface="Calibri" pitchFamily="34" charset="-120"/>
              </a:rPr>
              <a:t>CLAUDE</a:t>
            </a:r>
            <a:endParaRPr lang="en-US" sz="750" dirty="0"/>
          </a:p>
        </p:txBody>
      </p:sp>
      <p:sp>
        <p:nvSpPr>
          <p:cNvPr id="28" name="Text 26"/>
          <p:cNvSpPr/>
          <p:nvPr/>
        </p:nvSpPr>
        <p:spPr>
          <a:xfrm>
            <a:off x="1417320" y="32461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[reasons over 175 clauses] → generate_redline_brief([10 conflicts])</a:t>
            </a:r>
            <a:endParaRPr lang="en-US" sz="950" dirty="0"/>
          </a:p>
        </p:txBody>
      </p:sp>
      <p:sp>
        <p:nvSpPr>
          <p:cNvPr id="29" name="Shape 27"/>
          <p:cNvSpPr/>
          <p:nvPr/>
        </p:nvSpPr>
        <p:spPr>
          <a:xfrm>
            <a:off x="365760" y="3703320"/>
            <a:ext cx="8412480" cy="384048"/>
          </a:xfrm>
          <a:prstGeom prst="rect">
            <a:avLst/>
          </a:prstGeom>
          <a:solidFill>
            <a:srgbClr val="162D4A"/>
          </a:solidFill>
          <a:ln w="12700">
            <a:solidFill>
              <a:srgbClr val="243F60"/>
            </a:solidFill>
            <a:prstDash val="solid"/>
          </a:ln>
        </p:spPr>
        <p:txBody>
          <a:bodyPr/>
          <a:lstStyle/>
          <a:p>
            <a:endParaRPr lang="en-US"/>
          </a:p>
        </p:txBody>
      </p:sp>
      <p:sp>
        <p:nvSpPr>
          <p:cNvPr id="30" name="Shape 28"/>
          <p:cNvSpPr/>
          <p:nvPr/>
        </p:nvSpPr>
        <p:spPr>
          <a:xfrm>
            <a:off x="365760" y="3703320"/>
            <a:ext cx="960120" cy="384048"/>
          </a:xfrm>
          <a:prstGeom prst="rect">
            <a:avLst/>
          </a:prstGeom>
          <a:solidFill>
            <a:srgbClr val="000000"/>
          </a:solidFill>
          <a:ln w="12700">
            <a:solidFill>
              <a:srgbClr val="000000"/>
            </a:solidFill>
            <a:prstDash val="solid"/>
          </a:ln>
        </p:spPr>
        <p:txBody>
          <a:bodyPr/>
          <a:lstStyle/>
          <a:p>
            <a:endParaRPr lang="en-US"/>
          </a:p>
        </p:txBody>
      </p:sp>
      <p:sp>
        <p:nvSpPr>
          <p:cNvPr id="31" name="Text 29"/>
          <p:cNvSpPr/>
          <p:nvPr/>
        </p:nvSpPr>
        <p:spPr>
          <a:xfrm>
            <a:off x="365760" y="3703320"/>
            <a:ext cx="960120" cy="384048"/>
          </a:xfrm>
          <a:prstGeom prst="rect">
            <a:avLst/>
          </a:prstGeom>
          <a:noFill/>
          <a:ln/>
        </p:spPr>
        <p:txBody>
          <a:bodyPr wrap="square" lIns="0" tIns="0" rIns="0" bIns="0" rtlCol="0" anchor="ctr"/>
          <a:lstStyle/>
          <a:p>
            <a:pPr marL="0" indent="0" algn="ctr">
              <a:buNone/>
            </a:pPr>
            <a:r>
              <a:rPr lang="en-US" sz="750" b="1" dirty="0">
                <a:solidFill>
                  <a:srgbClr val="2D5282"/>
                </a:solidFill>
                <a:latin typeface="Calibri" pitchFamily="34" charset="0"/>
                <a:ea typeface="Calibri" pitchFamily="34" charset="-122"/>
                <a:cs typeface="Calibri" pitchFamily="34" charset="-120"/>
              </a:rPr>
              <a:t>SERVER</a:t>
            </a:r>
            <a:endParaRPr lang="en-US" sz="750" dirty="0"/>
          </a:p>
        </p:txBody>
      </p:sp>
      <p:sp>
        <p:nvSpPr>
          <p:cNvPr id="32" name="Text 30"/>
          <p:cNvSpPr/>
          <p:nvPr/>
        </p:nvSpPr>
        <p:spPr>
          <a:xfrm>
            <a:off x="1417320" y="37033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tool_result → { success: true, report: { CRITICAL: 2, HIGH: 3, ... } }</a:t>
            </a:r>
            <a:endParaRPr lang="en-US" sz="950" dirty="0"/>
          </a:p>
        </p:txBody>
      </p:sp>
      <p:sp>
        <p:nvSpPr>
          <p:cNvPr id="33" name="Shape 31"/>
          <p:cNvSpPr/>
          <p:nvPr/>
        </p:nvSpPr>
        <p:spPr>
          <a:xfrm>
            <a:off x="365760" y="4160520"/>
            <a:ext cx="8412480" cy="384048"/>
          </a:xfrm>
          <a:prstGeom prst="rect">
            <a:avLst/>
          </a:prstGeom>
          <a:solidFill>
            <a:srgbClr val="062010"/>
          </a:solidFill>
          <a:ln w="12700">
            <a:solidFill>
              <a:srgbClr val="243F60"/>
            </a:solidFill>
            <a:prstDash val="solid"/>
          </a:ln>
        </p:spPr>
        <p:txBody>
          <a:bodyPr/>
          <a:lstStyle/>
          <a:p>
            <a:endParaRPr lang="en-US"/>
          </a:p>
        </p:txBody>
      </p:sp>
      <p:sp>
        <p:nvSpPr>
          <p:cNvPr id="34" name="Shape 32"/>
          <p:cNvSpPr/>
          <p:nvPr/>
        </p:nvSpPr>
        <p:spPr>
          <a:xfrm>
            <a:off x="365760" y="4160520"/>
            <a:ext cx="960120" cy="384048"/>
          </a:xfrm>
          <a:prstGeom prst="rect">
            <a:avLst/>
          </a:prstGeom>
          <a:solidFill>
            <a:srgbClr val="000000"/>
          </a:solidFill>
          <a:ln w="12700">
            <a:solidFill>
              <a:srgbClr val="000000"/>
            </a:solidFill>
            <a:prstDash val="solid"/>
          </a:ln>
        </p:spPr>
        <p:txBody>
          <a:bodyPr/>
          <a:lstStyle/>
          <a:p>
            <a:endParaRPr lang="en-US"/>
          </a:p>
        </p:txBody>
      </p:sp>
      <p:sp>
        <p:nvSpPr>
          <p:cNvPr id="35" name="Text 33"/>
          <p:cNvSpPr/>
          <p:nvPr/>
        </p:nvSpPr>
        <p:spPr>
          <a:xfrm>
            <a:off x="365760" y="4160520"/>
            <a:ext cx="960120" cy="384048"/>
          </a:xfrm>
          <a:prstGeom prst="rect">
            <a:avLst/>
          </a:prstGeom>
          <a:noFill/>
          <a:ln/>
        </p:spPr>
        <p:txBody>
          <a:bodyPr wrap="square" lIns="0" tIns="0" rIns="0" bIns="0" rtlCol="0" anchor="ctr"/>
          <a:lstStyle/>
          <a:p>
            <a:pPr marL="0" indent="0" algn="ctr">
              <a:buNone/>
            </a:pPr>
            <a:r>
              <a:rPr lang="en-US" sz="750" b="1" dirty="0">
                <a:solidFill>
                  <a:srgbClr val="16A34A"/>
                </a:solidFill>
                <a:latin typeface="Calibri" pitchFamily="34" charset="0"/>
                <a:ea typeface="Calibri" pitchFamily="34" charset="-122"/>
                <a:cs typeface="Calibri" pitchFamily="34" charset="-120"/>
              </a:rPr>
              <a:t>CLAUDE</a:t>
            </a:r>
            <a:endParaRPr lang="en-US" sz="750" dirty="0"/>
          </a:p>
        </p:txBody>
      </p:sp>
      <p:sp>
        <p:nvSpPr>
          <p:cNvPr id="36" name="Text 34"/>
          <p:cNvSpPr/>
          <p:nvPr/>
        </p:nvSpPr>
        <p:spPr>
          <a:xfrm>
            <a:off x="1417320" y="41605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stop_reason: end_turn  →  "Analysis complete. Redline brief generated."</a:t>
            </a:r>
            <a:endParaRPr lang="en-US" sz="950" dirty="0"/>
          </a:p>
        </p:txBody>
      </p:sp>
      <p:sp>
        <p:nvSpPr>
          <p:cNvPr id="37" name="Shape 35"/>
          <p:cNvSpPr/>
          <p:nvPr/>
        </p:nvSpPr>
        <p:spPr>
          <a:xfrm>
            <a:off x="365760" y="4617720"/>
            <a:ext cx="8412480" cy="384048"/>
          </a:xfrm>
          <a:prstGeom prst="rect">
            <a:avLst/>
          </a:prstGeom>
          <a:solidFill>
            <a:srgbClr val="1C1408"/>
          </a:solidFill>
          <a:ln w="12700">
            <a:solidFill>
              <a:srgbClr val="243F60"/>
            </a:solidFill>
            <a:prstDash val="solid"/>
          </a:ln>
        </p:spPr>
        <p:txBody>
          <a:bodyPr/>
          <a:lstStyle/>
          <a:p>
            <a:endParaRPr lang="en-US"/>
          </a:p>
        </p:txBody>
      </p:sp>
      <p:sp>
        <p:nvSpPr>
          <p:cNvPr id="38" name="Shape 36"/>
          <p:cNvSpPr/>
          <p:nvPr/>
        </p:nvSpPr>
        <p:spPr>
          <a:xfrm>
            <a:off x="365760" y="4617720"/>
            <a:ext cx="960120" cy="384048"/>
          </a:xfrm>
          <a:prstGeom prst="rect">
            <a:avLst/>
          </a:prstGeom>
          <a:solidFill>
            <a:srgbClr val="000000"/>
          </a:solidFill>
          <a:ln w="12700">
            <a:solidFill>
              <a:srgbClr val="000000"/>
            </a:solidFill>
            <a:prstDash val="solid"/>
          </a:ln>
        </p:spPr>
        <p:txBody>
          <a:bodyPr/>
          <a:lstStyle/>
          <a:p>
            <a:endParaRPr lang="en-US"/>
          </a:p>
        </p:txBody>
      </p:sp>
      <p:sp>
        <p:nvSpPr>
          <p:cNvPr id="39" name="Text 37"/>
          <p:cNvSpPr/>
          <p:nvPr/>
        </p:nvSpPr>
        <p:spPr>
          <a:xfrm>
            <a:off x="365760" y="4617720"/>
            <a:ext cx="960120" cy="384048"/>
          </a:xfrm>
          <a:prstGeom prst="rect">
            <a:avLst/>
          </a:prstGeom>
          <a:noFill/>
          <a:ln/>
        </p:spPr>
        <p:txBody>
          <a:bodyPr wrap="square" lIns="0" tIns="0" rIns="0" bIns="0" rtlCol="0" anchor="ctr"/>
          <a:lstStyle/>
          <a:p>
            <a:pPr marL="0" indent="0" algn="ctr">
              <a:buNone/>
            </a:pPr>
            <a:r>
              <a:rPr lang="en-US" sz="750" b="1" dirty="0">
                <a:solidFill>
                  <a:srgbClr val="F59E0B"/>
                </a:solidFill>
                <a:latin typeface="Calibri" pitchFamily="34" charset="0"/>
                <a:ea typeface="Calibri" pitchFamily="34" charset="-122"/>
                <a:cs typeface="Calibri" pitchFamily="34" charset="-120"/>
              </a:rPr>
              <a:t>BROWSER</a:t>
            </a:r>
            <a:endParaRPr lang="en-US" sz="750" dirty="0"/>
          </a:p>
        </p:txBody>
      </p:sp>
      <p:sp>
        <p:nvSpPr>
          <p:cNvPr id="40" name="Text 38"/>
          <p:cNvSpPr/>
          <p:nvPr/>
        </p:nvSpPr>
        <p:spPr>
          <a:xfrm>
            <a:off x="1417320" y="4617720"/>
            <a:ext cx="7223760" cy="384048"/>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SSE "complete" event received → results render on screen</a:t>
            </a:r>
            <a:endParaRPr lang="en-US" sz="950" dirty="0"/>
          </a:p>
        </p:txBody>
      </p:sp>
      <p:sp>
        <p:nvSpPr>
          <p:cNvPr id="41" name="Text 39"/>
          <p:cNvSpPr/>
          <p:nvPr/>
        </p:nvSpPr>
        <p:spPr>
          <a:xfrm>
            <a:off x="365760" y="5166360"/>
            <a:ext cx="8412480" cy="219456"/>
          </a:xfrm>
          <a:prstGeom prst="rect">
            <a:avLst/>
          </a:prstGeom>
          <a:noFill/>
          <a:ln/>
        </p:spPr>
        <p:txBody>
          <a:bodyPr wrap="square" lIns="0" tIns="0" rIns="0" bIns="0" rtlCol="0" anchor="ctr"/>
          <a:lstStyle/>
          <a:p>
            <a:pPr marL="0" indent="0" algn="ctr">
              <a:buNone/>
            </a:pPr>
            <a:r>
              <a:rPr lang="en-US" sz="950" i="1" dirty="0">
                <a:solidFill>
                  <a:srgbClr val="7A9BBF"/>
                </a:solidFill>
                <a:latin typeface="Calibri" pitchFamily="34" charset="0"/>
                <a:ea typeface="Calibri" pitchFamily="34" charset="-122"/>
                <a:cs typeface="Calibri" pitchFamily="34" charset="-120"/>
              </a:rPr>
              <a:t>Claude drives the workflow. The server executes. The messages array is the shared memory.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Business Case</a:t>
            </a:r>
            <a:endParaRPr lang="en-US" sz="2200" dirty="0"/>
          </a:p>
        </p:txBody>
      </p:sp>
      <p:sp>
        <p:nvSpPr>
          <p:cNvPr id="4" name="Shape 2"/>
          <p:cNvSpPr/>
          <p:nvPr/>
        </p:nvSpPr>
        <p:spPr>
          <a:xfrm>
            <a:off x="365760" y="960120"/>
            <a:ext cx="2651760" cy="3886200"/>
          </a:xfrm>
          <a:prstGeom prst="rect">
            <a:avLst/>
          </a:prstGeom>
          <a:solidFill>
            <a:srgbClr val="EBF2FB"/>
          </a:solidFill>
          <a:ln w="9525">
            <a:solidFill>
              <a:srgbClr val="1E3A5F"/>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365760" y="960120"/>
            <a:ext cx="2651760" cy="457200"/>
          </a:xfrm>
          <a:prstGeom prst="rect">
            <a:avLst/>
          </a:prstGeom>
          <a:solidFill>
            <a:srgbClr val="1E3A5F"/>
          </a:solidFill>
          <a:ln w="12700">
            <a:solidFill>
              <a:srgbClr val="1E3A5F"/>
            </a:solidFill>
            <a:prstDash val="solid"/>
          </a:ln>
        </p:spPr>
        <p:txBody>
          <a:bodyPr/>
          <a:lstStyle/>
          <a:p>
            <a:endParaRPr lang="en-US"/>
          </a:p>
        </p:txBody>
      </p:sp>
      <p:sp>
        <p:nvSpPr>
          <p:cNvPr id="6" name="Text 4"/>
          <p:cNvSpPr/>
          <p:nvPr/>
        </p:nvSpPr>
        <p:spPr>
          <a:xfrm>
            <a:off x="457200" y="960120"/>
            <a:ext cx="246888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Law Firms</a:t>
            </a:r>
            <a:endParaRPr lang="en-US" sz="1200" dirty="0"/>
          </a:p>
        </p:txBody>
      </p:sp>
      <p:sp>
        <p:nvSpPr>
          <p:cNvPr id="7" name="Text 5"/>
          <p:cNvSpPr/>
          <p:nvPr/>
        </p:nvSpPr>
        <p:spPr>
          <a:xfrm>
            <a:off x="502920" y="1600200"/>
            <a:ext cx="2377440" cy="201168"/>
          </a:xfrm>
          <a:prstGeom prst="rect">
            <a:avLst/>
          </a:prstGeom>
          <a:noFill/>
          <a:ln/>
        </p:spPr>
        <p:txBody>
          <a:bodyPr wrap="square" lIns="0" tIns="0" rIns="0" bIns="0" rtlCol="0" anchor="ctr"/>
          <a:lstStyle/>
          <a:p>
            <a:pPr marL="0" indent="0">
              <a:buNone/>
            </a:pPr>
            <a:r>
              <a:rPr lang="en-US" sz="750" b="1" dirty="0">
                <a:solidFill>
                  <a:srgbClr val="1E3A5F"/>
                </a:solidFill>
                <a:latin typeface="Calibri" pitchFamily="34" charset="0"/>
                <a:ea typeface="Calibri" pitchFamily="34" charset="-122"/>
                <a:cs typeface="Calibri" pitchFamily="34" charset="-120"/>
              </a:rPr>
              <a:t>PAIN POINT</a:t>
            </a:r>
            <a:endParaRPr lang="en-US" sz="750" dirty="0"/>
          </a:p>
        </p:txBody>
      </p:sp>
      <p:sp>
        <p:nvSpPr>
          <p:cNvPr id="8" name="Text 6"/>
          <p:cNvSpPr/>
          <p:nvPr/>
        </p:nvSpPr>
        <p:spPr>
          <a:xfrm>
            <a:off x="502920" y="180136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Associates bill $400/hr for contract comparison</a:t>
            </a:r>
            <a:endParaRPr lang="en-US" sz="1000" dirty="0"/>
          </a:p>
        </p:txBody>
      </p:sp>
      <p:sp>
        <p:nvSpPr>
          <p:cNvPr id="9" name="Text 7"/>
          <p:cNvSpPr/>
          <p:nvPr/>
        </p:nvSpPr>
        <p:spPr>
          <a:xfrm>
            <a:off x="502920" y="2651760"/>
            <a:ext cx="2377440" cy="201168"/>
          </a:xfrm>
          <a:prstGeom prst="rect">
            <a:avLst/>
          </a:prstGeom>
          <a:noFill/>
          <a:ln/>
        </p:spPr>
        <p:txBody>
          <a:bodyPr wrap="square" lIns="0" tIns="0" rIns="0" bIns="0" rtlCol="0" anchor="ctr"/>
          <a:lstStyle/>
          <a:p>
            <a:pPr marL="0" indent="0">
              <a:buNone/>
            </a:pPr>
            <a:r>
              <a:rPr lang="en-US" sz="750" b="1" dirty="0">
                <a:solidFill>
                  <a:srgbClr val="1E3A5F"/>
                </a:solidFill>
                <a:latin typeface="Calibri" pitchFamily="34" charset="0"/>
                <a:ea typeface="Calibri" pitchFamily="34" charset="-122"/>
                <a:cs typeface="Calibri" pitchFamily="34" charset="-120"/>
              </a:rPr>
              <a:t>VALUE</a:t>
            </a:r>
            <a:endParaRPr lang="en-US" sz="750" dirty="0"/>
          </a:p>
        </p:txBody>
      </p:sp>
      <p:sp>
        <p:nvSpPr>
          <p:cNvPr id="10" name="Text 8"/>
          <p:cNvSpPr/>
          <p:nvPr/>
        </p:nvSpPr>
        <p:spPr>
          <a:xfrm>
            <a:off x="502920" y="285292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ClauseGuard does it in 60s — bill the client, save the associate</a:t>
            </a:r>
            <a:endParaRPr lang="en-US" sz="1000" dirty="0"/>
          </a:p>
        </p:txBody>
      </p:sp>
      <p:sp>
        <p:nvSpPr>
          <p:cNvPr id="11" name="Text 9"/>
          <p:cNvSpPr/>
          <p:nvPr/>
        </p:nvSpPr>
        <p:spPr>
          <a:xfrm>
            <a:off x="502920" y="3703320"/>
            <a:ext cx="2377440" cy="201168"/>
          </a:xfrm>
          <a:prstGeom prst="rect">
            <a:avLst/>
          </a:prstGeom>
          <a:noFill/>
          <a:ln/>
        </p:spPr>
        <p:txBody>
          <a:bodyPr wrap="square" lIns="0" tIns="0" rIns="0" bIns="0" rtlCol="0" anchor="ctr"/>
          <a:lstStyle/>
          <a:p>
            <a:pPr marL="0" indent="0">
              <a:buNone/>
            </a:pPr>
            <a:r>
              <a:rPr lang="en-US" sz="750" b="1" dirty="0">
                <a:solidFill>
                  <a:srgbClr val="1E3A5F"/>
                </a:solidFill>
                <a:latin typeface="Calibri" pitchFamily="34" charset="0"/>
                <a:ea typeface="Calibri" pitchFamily="34" charset="-122"/>
                <a:cs typeface="Calibri" pitchFamily="34" charset="-120"/>
              </a:rPr>
              <a:t>ROI</a:t>
            </a:r>
            <a:endParaRPr lang="en-US" sz="750" dirty="0"/>
          </a:p>
        </p:txBody>
      </p:sp>
      <p:sp>
        <p:nvSpPr>
          <p:cNvPr id="12" name="Text 10"/>
          <p:cNvSpPr/>
          <p:nvPr/>
        </p:nvSpPr>
        <p:spPr>
          <a:xfrm>
            <a:off x="502920" y="390448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$50K+ saved per attorney per year</a:t>
            </a:r>
            <a:endParaRPr lang="en-US" sz="1000" dirty="0"/>
          </a:p>
        </p:txBody>
      </p:sp>
      <p:sp>
        <p:nvSpPr>
          <p:cNvPr id="13" name="Shape 11"/>
          <p:cNvSpPr/>
          <p:nvPr/>
        </p:nvSpPr>
        <p:spPr>
          <a:xfrm>
            <a:off x="3200400" y="960120"/>
            <a:ext cx="2651760" cy="3886200"/>
          </a:xfrm>
          <a:prstGeom prst="rect">
            <a:avLst/>
          </a:prstGeom>
          <a:solidFill>
            <a:srgbClr val="F5F0FF"/>
          </a:solidFill>
          <a:ln w="9525">
            <a:solidFill>
              <a:srgbClr val="7C3AED"/>
            </a:solidFill>
            <a:prstDash val="solid"/>
          </a:ln>
          <a:effectLst>
            <a:outerShdw blurRad="101600" dist="25400" dir="8100000" algn="bl" rotWithShape="0">
              <a:srgbClr val="000000">
                <a:alpha val="8000"/>
              </a:srgbClr>
            </a:outerShdw>
          </a:effectLst>
        </p:spPr>
        <p:txBody>
          <a:bodyPr/>
          <a:lstStyle/>
          <a:p>
            <a:endParaRPr lang="en-US"/>
          </a:p>
        </p:txBody>
      </p:sp>
      <p:sp>
        <p:nvSpPr>
          <p:cNvPr id="14" name="Shape 12"/>
          <p:cNvSpPr/>
          <p:nvPr/>
        </p:nvSpPr>
        <p:spPr>
          <a:xfrm>
            <a:off x="3200400" y="960120"/>
            <a:ext cx="2651760" cy="457200"/>
          </a:xfrm>
          <a:prstGeom prst="rect">
            <a:avLst/>
          </a:prstGeom>
          <a:solidFill>
            <a:srgbClr val="7C3AED"/>
          </a:solidFill>
          <a:ln w="12700">
            <a:solidFill>
              <a:srgbClr val="7C3AED"/>
            </a:solidFill>
            <a:prstDash val="solid"/>
          </a:ln>
        </p:spPr>
        <p:txBody>
          <a:bodyPr/>
          <a:lstStyle/>
          <a:p>
            <a:endParaRPr lang="en-US"/>
          </a:p>
        </p:txBody>
      </p:sp>
      <p:sp>
        <p:nvSpPr>
          <p:cNvPr id="15" name="Text 13"/>
          <p:cNvSpPr/>
          <p:nvPr/>
        </p:nvSpPr>
        <p:spPr>
          <a:xfrm>
            <a:off x="3291840" y="960120"/>
            <a:ext cx="246888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Procurement Teams</a:t>
            </a:r>
            <a:endParaRPr lang="en-US" sz="1200" dirty="0"/>
          </a:p>
        </p:txBody>
      </p:sp>
      <p:sp>
        <p:nvSpPr>
          <p:cNvPr id="16" name="Text 14"/>
          <p:cNvSpPr/>
          <p:nvPr/>
        </p:nvSpPr>
        <p:spPr>
          <a:xfrm>
            <a:off x="3337560" y="1600200"/>
            <a:ext cx="2377440" cy="201168"/>
          </a:xfrm>
          <a:prstGeom prst="rect">
            <a:avLst/>
          </a:prstGeom>
          <a:noFill/>
          <a:ln/>
        </p:spPr>
        <p:txBody>
          <a:bodyPr wrap="square" lIns="0" tIns="0" rIns="0" bIns="0" rtlCol="0" anchor="ctr"/>
          <a:lstStyle/>
          <a:p>
            <a:pPr marL="0" indent="0">
              <a:buNone/>
            </a:pPr>
            <a:r>
              <a:rPr lang="en-US" sz="750" b="1" dirty="0">
                <a:solidFill>
                  <a:srgbClr val="7C3AED"/>
                </a:solidFill>
                <a:latin typeface="Calibri" pitchFamily="34" charset="0"/>
                <a:ea typeface="Calibri" pitchFamily="34" charset="-122"/>
                <a:cs typeface="Calibri" pitchFamily="34" charset="-120"/>
              </a:rPr>
              <a:t>PAIN POINT</a:t>
            </a:r>
            <a:endParaRPr lang="en-US" sz="750" dirty="0"/>
          </a:p>
        </p:txBody>
      </p:sp>
      <p:sp>
        <p:nvSpPr>
          <p:cNvPr id="17" name="Text 15"/>
          <p:cNvSpPr/>
          <p:nvPr/>
        </p:nvSpPr>
        <p:spPr>
          <a:xfrm>
            <a:off x="3337560" y="180136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No legal review budget for standard vendor deals</a:t>
            </a:r>
            <a:endParaRPr lang="en-US" sz="1000" dirty="0"/>
          </a:p>
        </p:txBody>
      </p:sp>
      <p:sp>
        <p:nvSpPr>
          <p:cNvPr id="18" name="Text 16"/>
          <p:cNvSpPr/>
          <p:nvPr/>
        </p:nvSpPr>
        <p:spPr>
          <a:xfrm>
            <a:off x="3337560" y="2651760"/>
            <a:ext cx="2377440" cy="201168"/>
          </a:xfrm>
          <a:prstGeom prst="rect">
            <a:avLst/>
          </a:prstGeom>
          <a:noFill/>
          <a:ln/>
        </p:spPr>
        <p:txBody>
          <a:bodyPr wrap="square" lIns="0" tIns="0" rIns="0" bIns="0" rtlCol="0" anchor="ctr"/>
          <a:lstStyle/>
          <a:p>
            <a:pPr marL="0" indent="0">
              <a:buNone/>
            </a:pPr>
            <a:r>
              <a:rPr lang="en-US" sz="750" b="1" dirty="0">
                <a:solidFill>
                  <a:srgbClr val="7C3AED"/>
                </a:solidFill>
                <a:latin typeface="Calibri" pitchFamily="34" charset="0"/>
                <a:ea typeface="Calibri" pitchFamily="34" charset="-122"/>
                <a:cs typeface="Calibri" pitchFamily="34" charset="-120"/>
              </a:rPr>
              <a:t>VALUE</a:t>
            </a:r>
            <a:endParaRPr lang="en-US" sz="750" dirty="0"/>
          </a:p>
        </p:txBody>
      </p:sp>
      <p:sp>
        <p:nvSpPr>
          <p:cNvPr id="19" name="Text 17"/>
          <p:cNvSpPr/>
          <p:nvPr/>
        </p:nvSpPr>
        <p:spPr>
          <a:xfrm>
            <a:off x="3337560" y="285292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Instant conflict detection before any signature</a:t>
            </a:r>
            <a:endParaRPr lang="en-US" sz="1000" dirty="0"/>
          </a:p>
        </p:txBody>
      </p:sp>
      <p:sp>
        <p:nvSpPr>
          <p:cNvPr id="20" name="Text 18"/>
          <p:cNvSpPr/>
          <p:nvPr/>
        </p:nvSpPr>
        <p:spPr>
          <a:xfrm>
            <a:off x="3337560" y="3703320"/>
            <a:ext cx="2377440" cy="201168"/>
          </a:xfrm>
          <a:prstGeom prst="rect">
            <a:avLst/>
          </a:prstGeom>
          <a:noFill/>
          <a:ln/>
        </p:spPr>
        <p:txBody>
          <a:bodyPr wrap="square" lIns="0" tIns="0" rIns="0" bIns="0" rtlCol="0" anchor="ctr"/>
          <a:lstStyle/>
          <a:p>
            <a:pPr marL="0" indent="0">
              <a:buNone/>
            </a:pPr>
            <a:r>
              <a:rPr lang="en-US" sz="750" b="1" dirty="0">
                <a:solidFill>
                  <a:srgbClr val="7C3AED"/>
                </a:solidFill>
                <a:latin typeface="Calibri" pitchFamily="34" charset="0"/>
                <a:ea typeface="Calibri" pitchFamily="34" charset="-122"/>
                <a:cs typeface="Calibri" pitchFamily="34" charset="-120"/>
              </a:rPr>
              <a:t>ROI</a:t>
            </a:r>
            <a:endParaRPr lang="en-US" sz="750" dirty="0"/>
          </a:p>
        </p:txBody>
      </p:sp>
      <p:sp>
        <p:nvSpPr>
          <p:cNvPr id="21" name="Text 19"/>
          <p:cNvSpPr/>
          <p:nvPr/>
        </p:nvSpPr>
        <p:spPr>
          <a:xfrm>
            <a:off x="3337560" y="390448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Prevent one bad clause = $100K+ in penalties avoided</a:t>
            </a:r>
            <a:endParaRPr lang="en-US" sz="1000" dirty="0"/>
          </a:p>
        </p:txBody>
      </p:sp>
      <p:sp>
        <p:nvSpPr>
          <p:cNvPr id="22" name="Shape 20"/>
          <p:cNvSpPr/>
          <p:nvPr/>
        </p:nvSpPr>
        <p:spPr>
          <a:xfrm>
            <a:off x="6035040" y="960120"/>
            <a:ext cx="2651760" cy="3886200"/>
          </a:xfrm>
          <a:prstGeom prst="rect">
            <a:avLst/>
          </a:prstGeom>
          <a:solidFill>
            <a:srgbClr val="EBF2FB"/>
          </a:solidFill>
          <a:ln w="9525">
            <a:solidFill>
              <a:srgbClr val="065A82"/>
            </a:solidFill>
            <a:prstDash val="solid"/>
          </a:ln>
          <a:effectLst>
            <a:outerShdw blurRad="101600" dist="25400" dir="8100000" algn="bl" rotWithShape="0">
              <a:srgbClr val="000000">
                <a:alpha val="8000"/>
              </a:srgbClr>
            </a:outerShdw>
          </a:effectLst>
        </p:spPr>
        <p:txBody>
          <a:bodyPr/>
          <a:lstStyle/>
          <a:p>
            <a:endParaRPr lang="en-US"/>
          </a:p>
        </p:txBody>
      </p:sp>
      <p:sp>
        <p:nvSpPr>
          <p:cNvPr id="23" name="Shape 21"/>
          <p:cNvSpPr/>
          <p:nvPr/>
        </p:nvSpPr>
        <p:spPr>
          <a:xfrm>
            <a:off x="6035040" y="960120"/>
            <a:ext cx="2651760" cy="457200"/>
          </a:xfrm>
          <a:prstGeom prst="rect">
            <a:avLst/>
          </a:prstGeom>
          <a:solidFill>
            <a:srgbClr val="065A82"/>
          </a:solidFill>
          <a:ln w="12700">
            <a:solidFill>
              <a:srgbClr val="065A82"/>
            </a:solidFill>
            <a:prstDash val="solid"/>
          </a:ln>
        </p:spPr>
        <p:txBody>
          <a:bodyPr/>
          <a:lstStyle/>
          <a:p>
            <a:endParaRPr lang="en-US"/>
          </a:p>
        </p:txBody>
      </p:sp>
      <p:sp>
        <p:nvSpPr>
          <p:cNvPr id="24" name="Text 22"/>
          <p:cNvSpPr/>
          <p:nvPr/>
        </p:nvSpPr>
        <p:spPr>
          <a:xfrm>
            <a:off x="6126480" y="960120"/>
            <a:ext cx="246888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Startups</a:t>
            </a:r>
            <a:endParaRPr lang="en-US" sz="1200" dirty="0"/>
          </a:p>
        </p:txBody>
      </p:sp>
      <p:sp>
        <p:nvSpPr>
          <p:cNvPr id="25" name="Text 23"/>
          <p:cNvSpPr/>
          <p:nvPr/>
        </p:nvSpPr>
        <p:spPr>
          <a:xfrm>
            <a:off x="6172200" y="1600200"/>
            <a:ext cx="2377440" cy="201168"/>
          </a:xfrm>
          <a:prstGeom prst="rect">
            <a:avLst/>
          </a:prstGeom>
          <a:noFill/>
          <a:ln/>
        </p:spPr>
        <p:txBody>
          <a:bodyPr wrap="square" lIns="0" tIns="0" rIns="0" bIns="0" rtlCol="0" anchor="ctr"/>
          <a:lstStyle/>
          <a:p>
            <a:pPr marL="0" indent="0">
              <a:buNone/>
            </a:pPr>
            <a:r>
              <a:rPr lang="en-US" sz="750" b="1" dirty="0">
                <a:solidFill>
                  <a:srgbClr val="065A82"/>
                </a:solidFill>
                <a:latin typeface="Calibri" pitchFamily="34" charset="0"/>
                <a:ea typeface="Calibri" pitchFamily="34" charset="-122"/>
                <a:cs typeface="Calibri" pitchFamily="34" charset="-120"/>
              </a:rPr>
              <a:t>PAIN POINT</a:t>
            </a:r>
            <a:endParaRPr lang="en-US" sz="750" dirty="0"/>
          </a:p>
        </p:txBody>
      </p:sp>
      <p:sp>
        <p:nvSpPr>
          <p:cNvPr id="26" name="Text 24"/>
          <p:cNvSpPr/>
          <p:nvPr/>
        </p:nvSpPr>
        <p:spPr>
          <a:xfrm>
            <a:off x="6172200" y="180136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Sign vendor contracts without reading them</a:t>
            </a:r>
            <a:endParaRPr lang="en-US" sz="1000" dirty="0"/>
          </a:p>
        </p:txBody>
      </p:sp>
      <p:sp>
        <p:nvSpPr>
          <p:cNvPr id="27" name="Text 25"/>
          <p:cNvSpPr/>
          <p:nvPr/>
        </p:nvSpPr>
        <p:spPr>
          <a:xfrm>
            <a:off x="6172200" y="2651760"/>
            <a:ext cx="2377440" cy="201168"/>
          </a:xfrm>
          <a:prstGeom prst="rect">
            <a:avLst/>
          </a:prstGeom>
          <a:noFill/>
          <a:ln/>
        </p:spPr>
        <p:txBody>
          <a:bodyPr wrap="square" lIns="0" tIns="0" rIns="0" bIns="0" rtlCol="0" anchor="ctr"/>
          <a:lstStyle/>
          <a:p>
            <a:pPr marL="0" indent="0">
              <a:buNone/>
            </a:pPr>
            <a:r>
              <a:rPr lang="en-US" sz="750" b="1" dirty="0">
                <a:solidFill>
                  <a:srgbClr val="065A82"/>
                </a:solidFill>
                <a:latin typeface="Calibri" pitchFamily="34" charset="0"/>
                <a:ea typeface="Calibri" pitchFamily="34" charset="-122"/>
                <a:cs typeface="Calibri" pitchFamily="34" charset="-120"/>
              </a:rPr>
              <a:t>VALUE</a:t>
            </a:r>
            <a:endParaRPr lang="en-US" sz="750" dirty="0"/>
          </a:p>
        </p:txBody>
      </p:sp>
      <p:sp>
        <p:nvSpPr>
          <p:cNvPr id="28" name="Text 26"/>
          <p:cNvSpPr/>
          <p:nvPr/>
        </p:nvSpPr>
        <p:spPr>
          <a:xfrm>
            <a:off x="6172200" y="285292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Affordable legal intelligence on every agreement</a:t>
            </a:r>
            <a:endParaRPr lang="en-US" sz="1000" dirty="0"/>
          </a:p>
        </p:txBody>
      </p:sp>
      <p:sp>
        <p:nvSpPr>
          <p:cNvPr id="29" name="Text 27"/>
          <p:cNvSpPr/>
          <p:nvPr/>
        </p:nvSpPr>
        <p:spPr>
          <a:xfrm>
            <a:off x="6172200" y="3703320"/>
            <a:ext cx="2377440" cy="201168"/>
          </a:xfrm>
          <a:prstGeom prst="rect">
            <a:avLst/>
          </a:prstGeom>
          <a:noFill/>
          <a:ln/>
        </p:spPr>
        <p:txBody>
          <a:bodyPr wrap="square" lIns="0" tIns="0" rIns="0" bIns="0" rtlCol="0" anchor="ctr"/>
          <a:lstStyle/>
          <a:p>
            <a:pPr marL="0" indent="0">
              <a:buNone/>
            </a:pPr>
            <a:r>
              <a:rPr lang="en-US" sz="750" b="1" dirty="0">
                <a:solidFill>
                  <a:srgbClr val="065A82"/>
                </a:solidFill>
                <a:latin typeface="Calibri" pitchFamily="34" charset="0"/>
                <a:ea typeface="Calibri" pitchFamily="34" charset="-122"/>
                <a:cs typeface="Calibri" pitchFamily="34" charset="-120"/>
              </a:rPr>
              <a:t>ROI</a:t>
            </a:r>
            <a:endParaRPr lang="en-US" sz="750" dirty="0"/>
          </a:p>
        </p:txBody>
      </p:sp>
      <p:sp>
        <p:nvSpPr>
          <p:cNvPr id="30" name="Text 28"/>
          <p:cNvSpPr/>
          <p:nvPr/>
        </p:nvSpPr>
        <p:spPr>
          <a:xfrm>
            <a:off x="6172200" y="3904488"/>
            <a:ext cx="2377440" cy="6858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First conflict caught pays for the tool 100x over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w="12700">
            <a:solidFill>
              <a:srgbClr val="1E3A5F"/>
            </a:solidFill>
            <a:prstDash val="solid"/>
          </a:ln>
        </p:spPr>
        <p:txBody>
          <a:bodyPr/>
          <a:lstStyle/>
          <a:p>
            <a:endParaRPr lang="en-US"/>
          </a:p>
        </p:txBody>
      </p:sp>
      <p:sp>
        <p:nvSpPr>
          <p:cNvPr id="3" name="Shape 1"/>
          <p:cNvSpPr/>
          <p:nvPr/>
        </p:nvSpPr>
        <p:spPr>
          <a:xfrm>
            <a:off x="0" y="0"/>
            <a:ext cx="164592" cy="514350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457200" y="1188720"/>
            <a:ext cx="8229600" cy="1005840"/>
          </a:xfrm>
          <a:prstGeom prst="rect">
            <a:avLst/>
          </a:prstGeom>
          <a:noFill/>
          <a:ln/>
        </p:spPr>
        <p:txBody>
          <a:bodyPr wrap="square" lIns="0" tIns="0" rIns="0" bIns="0"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ClauseGuard</a:t>
            </a:r>
            <a:endParaRPr lang="en-US" sz="5200" dirty="0"/>
          </a:p>
        </p:txBody>
      </p:sp>
      <p:sp>
        <p:nvSpPr>
          <p:cNvPr id="5" name="Text 3"/>
          <p:cNvSpPr/>
          <p:nvPr/>
        </p:nvSpPr>
        <p:spPr>
          <a:xfrm>
            <a:off x="457200" y="2286000"/>
            <a:ext cx="8229600" cy="822960"/>
          </a:xfrm>
          <a:prstGeom prst="rect">
            <a:avLst/>
          </a:prstGeom>
          <a:noFill/>
          <a:ln/>
        </p:spPr>
        <p:txBody>
          <a:bodyPr wrap="square" lIns="0" tIns="0" rIns="0" bIns="0" rtlCol="0" anchor="ctr"/>
          <a:lstStyle/>
          <a:p>
            <a:pPr marL="0" indent="0" algn="ctr">
              <a:buNone/>
            </a:pPr>
            <a:r>
              <a:rPr lang="en-US" sz="1600" i="1" dirty="0">
                <a:solidFill>
                  <a:srgbClr val="CADCFC"/>
                </a:solidFill>
                <a:latin typeface="Georgia" pitchFamily="34" charset="0"/>
                <a:ea typeface="Georgia" pitchFamily="34" charset="-122"/>
                <a:cs typeface="Georgia" pitchFamily="34" charset="-120"/>
              </a:rPr>
              <a:t>A junior lawyer takes 4 hours.</a:t>
            </a:r>
            <a:endParaRPr lang="en-US" sz="1600" dirty="0"/>
          </a:p>
          <a:p>
            <a:pPr marL="0" indent="0" algn="ctr">
              <a:buNone/>
            </a:pPr>
            <a:r>
              <a:rPr lang="en-US" sz="1600" i="1" dirty="0">
                <a:solidFill>
                  <a:srgbClr val="CADCFC"/>
                </a:solidFill>
                <a:latin typeface="Georgia" pitchFamily="34" charset="0"/>
                <a:ea typeface="Georgia" pitchFamily="34" charset="-122"/>
                <a:cs typeface="Georgia" pitchFamily="34" charset="-120"/>
              </a:rPr>
              <a:t>ClauseGuard takes 60 seconds.</a:t>
            </a:r>
            <a:endParaRPr lang="en-US" sz="1600" dirty="0"/>
          </a:p>
        </p:txBody>
      </p:sp>
      <p:sp>
        <p:nvSpPr>
          <p:cNvPr id="6" name="Shape 4"/>
          <p:cNvSpPr/>
          <p:nvPr/>
        </p:nvSpPr>
        <p:spPr>
          <a:xfrm>
            <a:off x="2926080" y="3291840"/>
            <a:ext cx="3291840" cy="54864"/>
          </a:xfrm>
          <a:prstGeom prst="rect">
            <a:avLst/>
          </a:prstGeom>
          <a:solidFill>
            <a:srgbClr val="7C3AED">
              <a:alpha val="50000"/>
            </a:srgbClr>
          </a:solidFill>
          <a:ln w="12700">
            <a:solidFill>
              <a:srgbClr val="7C3AED">
                <a:alpha val="50000"/>
              </a:srgbClr>
            </a:solidFill>
            <a:prstDash val="solid"/>
          </a:ln>
        </p:spPr>
        <p:txBody>
          <a:bodyPr/>
          <a:lstStyle/>
          <a:p>
            <a:endParaRPr lang="en-US"/>
          </a:p>
        </p:txBody>
      </p:sp>
      <p:sp>
        <p:nvSpPr>
          <p:cNvPr id="7" name="Text 5"/>
          <p:cNvSpPr/>
          <p:nvPr/>
        </p:nvSpPr>
        <p:spPr>
          <a:xfrm>
            <a:off x="731520" y="3566160"/>
            <a:ext cx="182880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1</a:t>
            </a:r>
            <a:endParaRPr lang="en-US" sz="3000" dirty="0"/>
          </a:p>
        </p:txBody>
      </p:sp>
      <p:sp>
        <p:nvSpPr>
          <p:cNvPr id="8" name="Text 6"/>
          <p:cNvSpPr/>
          <p:nvPr/>
        </p:nvSpPr>
        <p:spPr>
          <a:xfrm>
            <a:off x="731520" y="4160520"/>
            <a:ext cx="1828800" cy="274320"/>
          </a:xfrm>
          <a:prstGeom prst="rect">
            <a:avLst/>
          </a:prstGeom>
          <a:noFill/>
          <a:ln/>
        </p:spPr>
        <p:txBody>
          <a:bodyPr wrap="square" lIns="0" tIns="0" rIns="0" bIns="0" rtlCol="0" anchor="ctr"/>
          <a:lstStyle/>
          <a:p>
            <a:pPr marL="0" indent="0" algn="ctr">
              <a:buNone/>
            </a:pPr>
            <a:r>
              <a:rPr lang="en-US" sz="1000" dirty="0">
                <a:solidFill>
                  <a:srgbClr val="7A9BBF"/>
                </a:solidFill>
                <a:latin typeface="Calibri" pitchFamily="34" charset="0"/>
                <a:ea typeface="Calibri" pitchFamily="34" charset="-122"/>
                <a:cs typeface="Calibri" pitchFamily="34" charset="-120"/>
              </a:rPr>
              <a:t>agent</a:t>
            </a:r>
            <a:endParaRPr lang="en-US" sz="1000" dirty="0"/>
          </a:p>
        </p:txBody>
      </p:sp>
      <p:sp>
        <p:nvSpPr>
          <p:cNvPr id="9" name="Text 7"/>
          <p:cNvSpPr/>
          <p:nvPr/>
        </p:nvSpPr>
        <p:spPr>
          <a:xfrm>
            <a:off x="2743200" y="3566160"/>
            <a:ext cx="182880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2</a:t>
            </a:r>
            <a:endParaRPr lang="en-US" sz="3000" dirty="0"/>
          </a:p>
        </p:txBody>
      </p:sp>
      <p:sp>
        <p:nvSpPr>
          <p:cNvPr id="10" name="Text 8"/>
          <p:cNvSpPr/>
          <p:nvPr/>
        </p:nvSpPr>
        <p:spPr>
          <a:xfrm>
            <a:off x="2743200" y="4160520"/>
            <a:ext cx="1828800" cy="274320"/>
          </a:xfrm>
          <a:prstGeom prst="rect">
            <a:avLst/>
          </a:prstGeom>
          <a:noFill/>
          <a:ln/>
        </p:spPr>
        <p:txBody>
          <a:bodyPr wrap="square" lIns="0" tIns="0" rIns="0" bIns="0" rtlCol="0" anchor="ctr"/>
          <a:lstStyle/>
          <a:p>
            <a:pPr marL="0" indent="0" algn="ctr">
              <a:buNone/>
            </a:pPr>
            <a:r>
              <a:rPr lang="en-US" sz="1000" dirty="0">
                <a:solidFill>
                  <a:srgbClr val="7A9BBF"/>
                </a:solidFill>
                <a:latin typeface="Calibri" pitchFamily="34" charset="0"/>
                <a:ea typeface="Calibri" pitchFamily="34" charset="-122"/>
                <a:cs typeface="Calibri" pitchFamily="34" charset="-120"/>
              </a:rPr>
              <a:t>tools</a:t>
            </a:r>
            <a:endParaRPr lang="en-US" sz="1000" dirty="0"/>
          </a:p>
        </p:txBody>
      </p:sp>
      <p:sp>
        <p:nvSpPr>
          <p:cNvPr id="11" name="Text 9"/>
          <p:cNvSpPr/>
          <p:nvPr/>
        </p:nvSpPr>
        <p:spPr>
          <a:xfrm>
            <a:off x="4754880" y="3566160"/>
            <a:ext cx="182880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&lt;60s</a:t>
            </a:r>
            <a:endParaRPr lang="en-US" sz="3000" dirty="0"/>
          </a:p>
        </p:txBody>
      </p:sp>
      <p:sp>
        <p:nvSpPr>
          <p:cNvPr id="12" name="Text 10"/>
          <p:cNvSpPr/>
          <p:nvPr/>
        </p:nvSpPr>
        <p:spPr>
          <a:xfrm>
            <a:off x="4754880" y="4160520"/>
            <a:ext cx="1828800" cy="274320"/>
          </a:xfrm>
          <a:prstGeom prst="rect">
            <a:avLst/>
          </a:prstGeom>
          <a:noFill/>
          <a:ln/>
        </p:spPr>
        <p:txBody>
          <a:bodyPr wrap="square" lIns="0" tIns="0" rIns="0" bIns="0" rtlCol="0" anchor="ctr"/>
          <a:lstStyle/>
          <a:p>
            <a:pPr marL="0" indent="0" algn="ctr">
              <a:buNone/>
            </a:pPr>
            <a:r>
              <a:rPr lang="en-US" sz="1000" dirty="0">
                <a:solidFill>
                  <a:srgbClr val="7A9BBF"/>
                </a:solidFill>
                <a:latin typeface="Calibri" pitchFamily="34" charset="0"/>
                <a:ea typeface="Calibri" pitchFamily="34" charset="-122"/>
                <a:cs typeface="Calibri" pitchFamily="34" charset="-120"/>
              </a:rPr>
              <a:t>analysis time</a:t>
            </a:r>
            <a:endParaRPr lang="en-US" sz="1000" dirty="0"/>
          </a:p>
        </p:txBody>
      </p:sp>
      <p:sp>
        <p:nvSpPr>
          <p:cNvPr id="13" name="Text 11"/>
          <p:cNvSpPr/>
          <p:nvPr/>
        </p:nvSpPr>
        <p:spPr>
          <a:xfrm>
            <a:off x="6766560" y="3566160"/>
            <a:ext cx="182880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5/6</a:t>
            </a:r>
            <a:endParaRPr lang="en-US" sz="3000" dirty="0"/>
          </a:p>
        </p:txBody>
      </p:sp>
      <p:sp>
        <p:nvSpPr>
          <p:cNvPr id="14" name="Text 12"/>
          <p:cNvSpPr/>
          <p:nvPr/>
        </p:nvSpPr>
        <p:spPr>
          <a:xfrm>
            <a:off x="6766560" y="4160520"/>
            <a:ext cx="1828800" cy="274320"/>
          </a:xfrm>
          <a:prstGeom prst="rect">
            <a:avLst/>
          </a:prstGeom>
          <a:noFill/>
          <a:ln/>
        </p:spPr>
        <p:txBody>
          <a:bodyPr wrap="square" lIns="0" tIns="0" rIns="0" bIns="0" rtlCol="0" anchor="ctr"/>
          <a:lstStyle/>
          <a:p>
            <a:pPr marL="0" indent="0" algn="ctr">
              <a:buNone/>
            </a:pPr>
            <a:r>
              <a:rPr lang="en-US" sz="1000" dirty="0">
                <a:solidFill>
                  <a:srgbClr val="7A9BBF"/>
                </a:solidFill>
                <a:latin typeface="Calibri" pitchFamily="34" charset="0"/>
                <a:ea typeface="Calibri" pitchFamily="34" charset="-122"/>
                <a:cs typeface="Calibri" pitchFamily="34" charset="-120"/>
              </a:rPr>
              <a:t>BUILD score</a:t>
            </a:r>
            <a:endParaRPr lang="en-US" sz="1000" dirty="0"/>
          </a:p>
        </p:txBody>
      </p:sp>
      <p:sp>
        <p:nvSpPr>
          <p:cNvPr id="15" name="Text 13"/>
          <p:cNvSpPr/>
          <p:nvPr/>
        </p:nvSpPr>
        <p:spPr>
          <a:xfrm>
            <a:off x="457200" y="4663440"/>
            <a:ext cx="8229600" cy="274320"/>
          </a:xfrm>
          <a:prstGeom prst="rect">
            <a:avLst/>
          </a:prstGeom>
          <a:noFill/>
          <a:ln/>
        </p:spPr>
        <p:txBody>
          <a:bodyPr wrap="square" lIns="0" tIns="0" rIns="0" bIns="0" rtlCol="0" anchor="ctr"/>
          <a:lstStyle/>
          <a:p>
            <a:pPr marL="0" indent="0" algn="ctr">
              <a:buNone/>
            </a:pPr>
            <a:r>
              <a:rPr lang="en-US" sz="900" dirty="0">
                <a:solidFill>
                  <a:srgbClr val="4A6A8A"/>
                </a:solidFill>
                <a:latin typeface="Calibri" pitchFamily="34" charset="0"/>
                <a:ea typeface="Calibri" pitchFamily="34" charset="-122"/>
                <a:cs typeface="Calibri" pitchFamily="34" charset="-120"/>
              </a:rPr>
              <a:t>BUAN 6v99.s01  ·  UT Dallas  ·  April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1888</Words>
  <Application>Microsoft Office PowerPoint</Application>
  <PresentationFormat>On-screen Show (16:9)</PresentationFormat>
  <Paragraphs>287</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ClauseGuard — Contract Conflict Detector</dc:title>
  <dc:subject>PptxGenJS Presentation</dc:subject>
  <dc:creator>Agentic AI Class — Project 1/3</dc:creator>
  <cp:lastModifiedBy>Thomas, Nicholas Anthony</cp:lastModifiedBy>
  <cp:revision>5</cp:revision>
  <dcterms:created xsi:type="dcterms:W3CDTF">2026-04-15T06:32:12Z</dcterms:created>
  <dcterms:modified xsi:type="dcterms:W3CDTF">2026-04-15T15:16:16Z</dcterms:modified>
</cp:coreProperties>
</file>